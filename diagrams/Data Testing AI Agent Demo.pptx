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2" r:id="rId2"/>
    <p:sldId id="286" r:id="rId3"/>
    <p:sldId id="287" r:id="rId4"/>
    <p:sldId id="288" r:id="rId5"/>
    <p:sldId id="293" r:id="rId6"/>
    <p:sldId id="294" r:id="rId7"/>
    <p:sldId id="295" r:id="rId8"/>
    <p:sldId id="260" r:id="rId9"/>
    <p:sldId id="278" r:id="rId10"/>
    <p:sldId id="290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6EE0DE-27C3-44E3-AC96-EE5E6D9A1BC2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440D27-67B9-4197-98C2-F70A8912F094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800" dirty="0"/>
            <a:t>Planning</a:t>
          </a:r>
          <a:br>
            <a:rPr lang="en-US" sz="1800" dirty="0"/>
          </a:br>
          <a:r>
            <a:rPr lang="en-US" sz="1100" dirty="0"/>
            <a:t>BA agent</a:t>
          </a:r>
          <a:endParaRPr lang="en-US" sz="1800" dirty="0"/>
        </a:p>
      </dgm:t>
    </dgm:pt>
    <dgm:pt modelId="{14348ED3-F83E-4E18-A2D0-1E217FAAD73C}" type="parTrans" cxnId="{7E6C5271-2BA3-4142-A538-4D113218048F}">
      <dgm:prSet/>
      <dgm:spPr/>
      <dgm:t>
        <a:bodyPr/>
        <a:lstStyle/>
        <a:p>
          <a:endParaRPr lang="en-US"/>
        </a:p>
      </dgm:t>
    </dgm:pt>
    <dgm:pt modelId="{B9E1354E-352F-40CE-85F3-7F352C933746}" type="sibTrans" cxnId="{7E6C5271-2BA3-4142-A538-4D113218048F}">
      <dgm:prSet/>
      <dgm:spPr/>
      <dgm:t>
        <a:bodyPr/>
        <a:lstStyle/>
        <a:p>
          <a:endParaRPr lang="en-US"/>
        </a:p>
      </dgm:t>
    </dgm:pt>
    <dgm:pt modelId="{F37F5FB3-4F0A-41A7-AC1A-9B392194B178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1800" dirty="0"/>
            <a:t>Designing</a:t>
          </a:r>
          <a:br>
            <a:rPr lang="en-US" sz="1600" dirty="0"/>
          </a:br>
          <a:r>
            <a:rPr lang="en-US" sz="1100" dirty="0"/>
            <a:t>BA agent</a:t>
          </a:r>
          <a:endParaRPr lang="en-US" sz="1800" dirty="0"/>
        </a:p>
      </dgm:t>
    </dgm:pt>
    <dgm:pt modelId="{1DE18911-B589-4F0C-B420-5335C9610528}" type="parTrans" cxnId="{9FC9910D-9A77-4983-9359-F7299E888D86}">
      <dgm:prSet/>
      <dgm:spPr/>
      <dgm:t>
        <a:bodyPr/>
        <a:lstStyle/>
        <a:p>
          <a:endParaRPr lang="en-US"/>
        </a:p>
      </dgm:t>
    </dgm:pt>
    <dgm:pt modelId="{9FC1639A-11FB-4AA0-8D32-6D2075BB0B78}" type="sibTrans" cxnId="{9FC9910D-9A77-4983-9359-F7299E888D86}">
      <dgm:prSet/>
      <dgm:spPr/>
      <dgm:t>
        <a:bodyPr/>
        <a:lstStyle/>
        <a:p>
          <a:endParaRPr lang="en-US"/>
        </a:p>
      </dgm:t>
    </dgm:pt>
    <dgm:pt modelId="{48630497-49DB-4892-BB12-611257CCECE2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400" dirty="0"/>
            <a:t>Development</a:t>
          </a:r>
          <a:br>
            <a:rPr lang="en-US" sz="1400" dirty="0"/>
          </a:br>
          <a:r>
            <a:rPr lang="en-US" sz="1100" dirty="0"/>
            <a:t>Dev agent (Front-end / Backend)</a:t>
          </a:r>
          <a:endParaRPr lang="en-US" sz="1400" dirty="0"/>
        </a:p>
      </dgm:t>
    </dgm:pt>
    <dgm:pt modelId="{78207860-A393-48CE-904B-BF8468AB7012}" type="parTrans" cxnId="{59261020-3DC4-492B-A3DA-21B44A23F986}">
      <dgm:prSet/>
      <dgm:spPr/>
      <dgm:t>
        <a:bodyPr/>
        <a:lstStyle/>
        <a:p>
          <a:endParaRPr lang="en-US"/>
        </a:p>
      </dgm:t>
    </dgm:pt>
    <dgm:pt modelId="{8F60D9AC-1911-423D-9983-1175FD6D19AD}" type="sibTrans" cxnId="{59261020-3DC4-492B-A3DA-21B44A23F986}">
      <dgm:prSet/>
      <dgm:spPr/>
      <dgm:t>
        <a:bodyPr/>
        <a:lstStyle/>
        <a:p>
          <a:endParaRPr lang="en-US"/>
        </a:p>
      </dgm:t>
    </dgm:pt>
    <dgm:pt modelId="{D11A2672-EF52-48BB-AEFD-16A2D415B522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1800" dirty="0"/>
            <a:t>Testing</a:t>
          </a:r>
          <a:br>
            <a:rPr lang="en-US" sz="1800" dirty="0"/>
          </a:br>
          <a:r>
            <a:rPr lang="en-US" sz="1100" dirty="0"/>
            <a:t>Tester agent</a:t>
          </a:r>
          <a:endParaRPr lang="en-US" sz="1800" dirty="0"/>
        </a:p>
      </dgm:t>
    </dgm:pt>
    <dgm:pt modelId="{C3FE1A75-2091-4719-84FA-FD08363196B0}" type="parTrans" cxnId="{2761C171-2B47-40FC-B781-31B9AA901AD1}">
      <dgm:prSet/>
      <dgm:spPr/>
      <dgm:t>
        <a:bodyPr/>
        <a:lstStyle/>
        <a:p>
          <a:endParaRPr lang="en-US"/>
        </a:p>
      </dgm:t>
    </dgm:pt>
    <dgm:pt modelId="{5495F45A-7BE9-43B7-8EB9-4331E411B4F6}" type="sibTrans" cxnId="{2761C171-2B47-40FC-B781-31B9AA901AD1}">
      <dgm:prSet/>
      <dgm:spPr/>
      <dgm:t>
        <a:bodyPr/>
        <a:lstStyle/>
        <a:p>
          <a:endParaRPr lang="en-US"/>
        </a:p>
      </dgm:t>
    </dgm:pt>
    <dgm:pt modelId="{30C8F181-A267-4523-AE1C-A9397EA752EE}">
      <dgm:prSet phldrT="[Text]" custT="1"/>
      <dgm:spPr/>
      <dgm:t>
        <a:bodyPr/>
        <a:lstStyle/>
        <a:p>
          <a:r>
            <a:rPr lang="en-US" sz="1800" dirty="0"/>
            <a:t>Release &amp;Maintenance</a:t>
          </a:r>
          <a:br>
            <a:rPr lang="en-US" sz="1800" dirty="0"/>
          </a:br>
          <a:r>
            <a:rPr lang="en-US" sz="1100" dirty="0"/>
            <a:t>Dev agent</a:t>
          </a:r>
          <a:endParaRPr lang="en-US" sz="1800" dirty="0"/>
        </a:p>
      </dgm:t>
    </dgm:pt>
    <dgm:pt modelId="{5D9857EC-6793-499E-BA79-B1B26BB74E42}" type="parTrans" cxnId="{06CB933B-D0E5-4D5F-AAC2-9ADAA497412F}">
      <dgm:prSet/>
      <dgm:spPr/>
      <dgm:t>
        <a:bodyPr/>
        <a:lstStyle/>
        <a:p>
          <a:endParaRPr lang="en-US"/>
        </a:p>
      </dgm:t>
    </dgm:pt>
    <dgm:pt modelId="{D4B42FD4-B3DE-42C3-A02B-C23B74B6325F}" type="sibTrans" cxnId="{06CB933B-D0E5-4D5F-AAC2-9ADAA497412F}">
      <dgm:prSet/>
      <dgm:spPr/>
      <dgm:t>
        <a:bodyPr/>
        <a:lstStyle/>
        <a:p>
          <a:endParaRPr lang="en-US"/>
        </a:p>
      </dgm:t>
    </dgm:pt>
    <dgm:pt modelId="{D00DD6C4-C4FB-46B9-9C05-088C35B8DBF8}" type="pres">
      <dgm:prSet presAssocID="{FC6EE0DE-27C3-44E3-AC96-EE5E6D9A1BC2}" presName="cycle" presStyleCnt="0">
        <dgm:presLayoutVars>
          <dgm:dir/>
          <dgm:resizeHandles val="exact"/>
        </dgm:presLayoutVars>
      </dgm:prSet>
      <dgm:spPr/>
    </dgm:pt>
    <dgm:pt modelId="{F875A59B-1328-462D-A594-28D146726A7E}" type="pres">
      <dgm:prSet presAssocID="{BE440D27-67B9-4197-98C2-F70A8912F094}" presName="node" presStyleLbl="node1" presStyleIdx="0" presStyleCnt="5">
        <dgm:presLayoutVars>
          <dgm:bulletEnabled val="1"/>
        </dgm:presLayoutVars>
      </dgm:prSet>
      <dgm:spPr/>
    </dgm:pt>
    <dgm:pt modelId="{B37E36D8-5A96-4247-B771-622D46E3D170}" type="pres">
      <dgm:prSet presAssocID="{BE440D27-67B9-4197-98C2-F70A8912F094}" presName="spNode" presStyleCnt="0"/>
      <dgm:spPr/>
    </dgm:pt>
    <dgm:pt modelId="{FB10E3E9-B4A1-4FD5-85F9-AE21ABBC0E1D}" type="pres">
      <dgm:prSet presAssocID="{B9E1354E-352F-40CE-85F3-7F352C933746}" presName="sibTrans" presStyleLbl="sibTrans1D1" presStyleIdx="0" presStyleCnt="5"/>
      <dgm:spPr/>
    </dgm:pt>
    <dgm:pt modelId="{3FA6A846-74C7-4A62-AB52-DEFCC47D79F0}" type="pres">
      <dgm:prSet presAssocID="{F37F5FB3-4F0A-41A7-AC1A-9B392194B178}" presName="node" presStyleLbl="node1" presStyleIdx="1" presStyleCnt="5">
        <dgm:presLayoutVars>
          <dgm:bulletEnabled val="1"/>
        </dgm:presLayoutVars>
      </dgm:prSet>
      <dgm:spPr/>
    </dgm:pt>
    <dgm:pt modelId="{EAF6017F-3B0C-4320-AF35-391C73E482D1}" type="pres">
      <dgm:prSet presAssocID="{F37F5FB3-4F0A-41A7-AC1A-9B392194B178}" presName="spNode" presStyleCnt="0"/>
      <dgm:spPr/>
    </dgm:pt>
    <dgm:pt modelId="{12B39B24-67EC-4A57-BF20-A6A8A2E8DD1B}" type="pres">
      <dgm:prSet presAssocID="{9FC1639A-11FB-4AA0-8D32-6D2075BB0B78}" presName="sibTrans" presStyleLbl="sibTrans1D1" presStyleIdx="1" presStyleCnt="5"/>
      <dgm:spPr/>
    </dgm:pt>
    <dgm:pt modelId="{7715CA25-178B-4BD1-8D7E-D32EFF89CF76}" type="pres">
      <dgm:prSet presAssocID="{48630497-49DB-4892-BB12-611257CCECE2}" presName="node" presStyleLbl="node1" presStyleIdx="2" presStyleCnt="5">
        <dgm:presLayoutVars>
          <dgm:bulletEnabled val="1"/>
        </dgm:presLayoutVars>
      </dgm:prSet>
      <dgm:spPr/>
    </dgm:pt>
    <dgm:pt modelId="{3FC9F07B-C3EA-4E1D-9247-BDBB92243E94}" type="pres">
      <dgm:prSet presAssocID="{48630497-49DB-4892-BB12-611257CCECE2}" presName="spNode" presStyleCnt="0"/>
      <dgm:spPr/>
    </dgm:pt>
    <dgm:pt modelId="{9BB1CC76-28CD-46DB-8BFD-7A292EC037E1}" type="pres">
      <dgm:prSet presAssocID="{8F60D9AC-1911-423D-9983-1175FD6D19AD}" presName="sibTrans" presStyleLbl="sibTrans1D1" presStyleIdx="2" presStyleCnt="5"/>
      <dgm:spPr/>
    </dgm:pt>
    <dgm:pt modelId="{55A92D81-F77F-47F7-BEF7-4A2E896A2FF7}" type="pres">
      <dgm:prSet presAssocID="{D11A2672-EF52-48BB-AEFD-16A2D415B522}" presName="node" presStyleLbl="node1" presStyleIdx="3" presStyleCnt="5">
        <dgm:presLayoutVars>
          <dgm:bulletEnabled val="1"/>
        </dgm:presLayoutVars>
      </dgm:prSet>
      <dgm:spPr/>
    </dgm:pt>
    <dgm:pt modelId="{F729F660-9015-49E5-8EF6-2EFE1D1F78EA}" type="pres">
      <dgm:prSet presAssocID="{D11A2672-EF52-48BB-AEFD-16A2D415B522}" presName="spNode" presStyleCnt="0"/>
      <dgm:spPr/>
    </dgm:pt>
    <dgm:pt modelId="{FCA1B1F6-5F4B-48B8-BF0C-5B586C3BB89F}" type="pres">
      <dgm:prSet presAssocID="{5495F45A-7BE9-43B7-8EB9-4331E411B4F6}" presName="sibTrans" presStyleLbl="sibTrans1D1" presStyleIdx="3" presStyleCnt="5"/>
      <dgm:spPr/>
    </dgm:pt>
    <dgm:pt modelId="{A3B737D8-9614-438B-91BE-24550EB65FAC}" type="pres">
      <dgm:prSet presAssocID="{30C8F181-A267-4523-AE1C-A9397EA752EE}" presName="node" presStyleLbl="node1" presStyleIdx="4" presStyleCnt="5" custScaleX="149290">
        <dgm:presLayoutVars>
          <dgm:bulletEnabled val="1"/>
        </dgm:presLayoutVars>
      </dgm:prSet>
      <dgm:spPr/>
    </dgm:pt>
    <dgm:pt modelId="{E769675E-4AEB-45D0-94AB-BD47891DE45E}" type="pres">
      <dgm:prSet presAssocID="{30C8F181-A267-4523-AE1C-A9397EA752EE}" presName="spNode" presStyleCnt="0"/>
      <dgm:spPr/>
    </dgm:pt>
    <dgm:pt modelId="{89836324-2640-4694-9715-A05565880E20}" type="pres">
      <dgm:prSet presAssocID="{D4B42FD4-B3DE-42C3-A02B-C23B74B6325F}" presName="sibTrans" presStyleLbl="sibTrans1D1" presStyleIdx="4" presStyleCnt="5"/>
      <dgm:spPr/>
    </dgm:pt>
  </dgm:ptLst>
  <dgm:cxnLst>
    <dgm:cxn modelId="{9FC9910D-9A77-4983-9359-F7299E888D86}" srcId="{FC6EE0DE-27C3-44E3-AC96-EE5E6D9A1BC2}" destId="{F37F5FB3-4F0A-41A7-AC1A-9B392194B178}" srcOrd="1" destOrd="0" parTransId="{1DE18911-B589-4F0C-B420-5335C9610528}" sibTransId="{9FC1639A-11FB-4AA0-8D32-6D2075BB0B78}"/>
    <dgm:cxn modelId="{9FA17B12-652E-44F2-9BCD-F43A83BA1664}" type="presOf" srcId="{5495F45A-7BE9-43B7-8EB9-4331E411B4F6}" destId="{FCA1B1F6-5F4B-48B8-BF0C-5B586C3BB89F}" srcOrd="0" destOrd="0" presId="urn:microsoft.com/office/officeart/2005/8/layout/cycle5"/>
    <dgm:cxn modelId="{786D3715-FDDA-41CB-85C7-072B6CC3C111}" type="presOf" srcId="{30C8F181-A267-4523-AE1C-A9397EA752EE}" destId="{A3B737D8-9614-438B-91BE-24550EB65FAC}" srcOrd="0" destOrd="0" presId="urn:microsoft.com/office/officeart/2005/8/layout/cycle5"/>
    <dgm:cxn modelId="{59261020-3DC4-492B-A3DA-21B44A23F986}" srcId="{FC6EE0DE-27C3-44E3-AC96-EE5E6D9A1BC2}" destId="{48630497-49DB-4892-BB12-611257CCECE2}" srcOrd="2" destOrd="0" parTransId="{78207860-A393-48CE-904B-BF8468AB7012}" sibTransId="{8F60D9AC-1911-423D-9983-1175FD6D19AD}"/>
    <dgm:cxn modelId="{08EADB21-6492-45E3-A4C5-B1A3D6A29A26}" type="presOf" srcId="{9FC1639A-11FB-4AA0-8D32-6D2075BB0B78}" destId="{12B39B24-67EC-4A57-BF20-A6A8A2E8DD1B}" srcOrd="0" destOrd="0" presId="urn:microsoft.com/office/officeart/2005/8/layout/cycle5"/>
    <dgm:cxn modelId="{06CB933B-D0E5-4D5F-AAC2-9ADAA497412F}" srcId="{FC6EE0DE-27C3-44E3-AC96-EE5E6D9A1BC2}" destId="{30C8F181-A267-4523-AE1C-A9397EA752EE}" srcOrd="4" destOrd="0" parTransId="{5D9857EC-6793-499E-BA79-B1B26BB74E42}" sibTransId="{D4B42FD4-B3DE-42C3-A02B-C23B74B6325F}"/>
    <dgm:cxn modelId="{8DFF2540-0E57-4016-A303-E48A48E2D081}" type="presOf" srcId="{F37F5FB3-4F0A-41A7-AC1A-9B392194B178}" destId="{3FA6A846-74C7-4A62-AB52-DEFCC47D79F0}" srcOrd="0" destOrd="0" presId="urn:microsoft.com/office/officeart/2005/8/layout/cycle5"/>
    <dgm:cxn modelId="{7E88965E-4E6D-4DE3-A0BE-688E7E30B7F1}" type="presOf" srcId="{8F60D9AC-1911-423D-9983-1175FD6D19AD}" destId="{9BB1CC76-28CD-46DB-8BFD-7A292EC037E1}" srcOrd="0" destOrd="0" presId="urn:microsoft.com/office/officeart/2005/8/layout/cycle5"/>
    <dgm:cxn modelId="{F51B3445-9CEC-428B-92BE-009352D2CF02}" type="presOf" srcId="{D4B42FD4-B3DE-42C3-A02B-C23B74B6325F}" destId="{89836324-2640-4694-9715-A05565880E20}" srcOrd="0" destOrd="0" presId="urn:microsoft.com/office/officeart/2005/8/layout/cycle5"/>
    <dgm:cxn modelId="{7E6C5271-2BA3-4142-A538-4D113218048F}" srcId="{FC6EE0DE-27C3-44E3-AC96-EE5E6D9A1BC2}" destId="{BE440D27-67B9-4197-98C2-F70A8912F094}" srcOrd="0" destOrd="0" parTransId="{14348ED3-F83E-4E18-A2D0-1E217FAAD73C}" sibTransId="{B9E1354E-352F-40CE-85F3-7F352C933746}"/>
    <dgm:cxn modelId="{2761C171-2B47-40FC-B781-31B9AA901AD1}" srcId="{FC6EE0DE-27C3-44E3-AC96-EE5E6D9A1BC2}" destId="{D11A2672-EF52-48BB-AEFD-16A2D415B522}" srcOrd="3" destOrd="0" parTransId="{C3FE1A75-2091-4719-84FA-FD08363196B0}" sibTransId="{5495F45A-7BE9-43B7-8EB9-4331E411B4F6}"/>
    <dgm:cxn modelId="{9B1BD453-4660-426A-A611-B77BD8A1D4CF}" type="presOf" srcId="{B9E1354E-352F-40CE-85F3-7F352C933746}" destId="{FB10E3E9-B4A1-4FD5-85F9-AE21ABBC0E1D}" srcOrd="0" destOrd="0" presId="urn:microsoft.com/office/officeart/2005/8/layout/cycle5"/>
    <dgm:cxn modelId="{0D536EAA-F6A8-46FB-A8F8-9A0627088301}" type="presOf" srcId="{FC6EE0DE-27C3-44E3-AC96-EE5E6D9A1BC2}" destId="{D00DD6C4-C4FB-46B9-9C05-088C35B8DBF8}" srcOrd="0" destOrd="0" presId="urn:microsoft.com/office/officeart/2005/8/layout/cycle5"/>
    <dgm:cxn modelId="{82D715B3-9544-4C0D-920C-79949235698C}" type="presOf" srcId="{48630497-49DB-4892-BB12-611257CCECE2}" destId="{7715CA25-178B-4BD1-8D7E-D32EFF89CF76}" srcOrd="0" destOrd="0" presId="urn:microsoft.com/office/officeart/2005/8/layout/cycle5"/>
    <dgm:cxn modelId="{594B44D7-4A2A-45CC-8B25-EC5A3F783897}" type="presOf" srcId="{BE440D27-67B9-4197-98C2-F70A8912F094}" destId="{F875A59B-1328-462D-A594-28D146726A7E}" srcOrd="0" destOrd="0" presId="urn:microsoft.com/office/officeart/2005/8/layout/cycle5"/>
    <dgm:cxn modelId="{681B5DF6-F905-42A3-BE1C-426340EBEB8A}" type="presOf" srcId="{D11A2672-EF52-48BB-AEFD-16A2D415B522}" destId="{55A92D81-F77F-47F7-BEF7-4A2E896A2FF7}" srcOrd="0" destOrd="0" presId="urn:microsoft.com/office/officeart/2005/8/layout/cycle5"/>
    <dgm:cxn modelId="{2CC11E4B-8060-4A51-82B3-9986EC87A216}" type="presParOf" srcId="{D00DD6C4-C4FB-46B9-9C05-088C35B8DBF8}" destId="{F875A59B-1328-462D-A594-28D146726A7E}" srcOrd="0" destOrd="0" presId="urn:microsoft.com/office/officeart/2005/8/layout/cycle5"/>
    <dgm:cxn modelId="{F77500FA-677F-43CF-9388-82F5A3527BFA}" type="presParOf" srcId="{D00DD6C4-C4FB-46B9-9C05-088C35B8DBF8}" destId="{B37E36D8-5A96-4247-B771-622D46E3D170}" srcOrd="1" destOrd="0" presId="urn:microsoft.com/office/officeart/2005/8/layout/cycle5"/>
    <dgm:cxn modelId="{4F556832-5234-4401-A544-057251E1FEA5}" type="presParOf" srcId="{D00DD6C4-C4FB-46B9-9C05-088C35B8DBF8}" destId="{FB10E3E9-B4A1-4FD5-85F9-AE21ABBC0E1D}" srcOrd="2" destOrd="0" presId="urn:microsoft.com/office/officeart/2005/8/layout/cycle5"/>
    <dgm:cxn modelId="{628F67DD-98B4-4061-9943-E1D0FE4FAD5D}" type="presParOf" srcId="{D00DD6C4-C4FB-46B9-9C05-088C35B8DBF8}" destId="{3FA6A846-74C7-4A62-AB52-DEFCC47D79F0}" srcOrd="3" destOrd="0" presId="urn:microsoft.com/office/officeart/2005/8/layout/cycle5"/>
    <dgm:cxn modelId="{0C878D11-8241-4D7C-BA69-3A408D885766}" type="presParOf" srcId="{D00DD6C4-C4FB-46B9-9C05-088C35B8DBF8}" destId="{EAF6017F-3B0C-4320-AF35-391C73E482D1}" srcOrd="4" destOrd="0" presId="urn:microsoft.com/office/officeart/2005/8/layout/cycle5"/>
    <dgm:cxn modelId="{60BAD200-270F-466F-80D5-A7766235775E}" type="presParOf" srcId="{D00DD6C4-C4FB-46B9-9C05-088C35B8DBF8}" destId="{12B39B24-67EC-4A57-BF20-A6A8A2E8DD1B}" srcOrd="5" destOrd="0" presId="urn:microsoft.com/office/officeart/2005/8/layout/cycle5"/>
    <dgm:cxn modelId="{4DDD9A79-4C2A-403E-A613-FB7DF5EF162A}" type="presParOf" srcId="{D00DD6C4-C4FB-46B9-9C05-088C35B8DBF8}" destId="{7715CA25-178B-4BD1-8D7E-D32EFF89CF76}" srcOrd="6" destOrd="0" presId="urn:microsoft.com/office/officeart/2005/8/layout/cycle5"/>
    <dgm:cxn modelId="{DCFAC0D6-2FCF-4665-B6DA-0CC044D2A811}" type="presParOf" srcId="{D00DD6C4-C4FB-46B9-9C05-088C35B8DBF8}" destId="{3FC9F07B-C3EA-4E1D-9247-BDBB92243E94}" srcOrd="7" destOrd="0" presId="urn:microsoft.com/office/officeart/2005/8/layout/cycle5"/>
    <dgm:cxn modelId="{EFC6877D-8D42-4006-A0F4-B7595BCB6D11}" type="presParOf" srcId="{D00DD6C4-C4FB-46B9-9C05-088C35B8DBF8}" destId="{9BB1CC76-28CD-46DB-8BFD-7A292EC037E1}" srcOrd="8" destOrd="0" presId="urn:microsoft.com/office/officeart/2005/8/layout/cycle5"/>
    <dgm:cxn modelId="{D0FBD96C-409E-4EA8-88D4-1EF7D4CB4EF0}" type="presParOf" srcId="{D00DD6C4-C4FB-46B9-9C05-088C35B8DBF8}" destId="{55A92D81-F77F-47F7-BEF7-4A2E896A2FF7}" srcOrd="9" destOrd="0" presId="urn:microsoft.com/office/officeart/2005/8/layout/cycle5"/>
    <dgm:cxn modelId="{BC0D617B-800E-4885-92F6-8F68677EF5F8}" type="presParOf" srcId="{D00DD6C4-C4FB-46B9-9C05-088C35B8DBF8}" destId="{F729F660-9015-49E5-8EF6-2EFE1D1F78EA}" srcOrd="10" destOrd="0" presId="urn:microsoft.com/office/officeart/2005/8/layout/cycle5"/>
    <dgm:cxn modelId="{8E47FB9C-8233-4179-9814-EDD2B5547DF8}" type="presParOf" srcId="{D00DD6C4-C4FB-46B9-9C05-088C35B8DBF8}" destId="{FCA1B1F6-5F4B-48B8-BF0C-5B586C3BB89F}" srcOrd="11" destOrd="0" presId="urn:microsoft.com/office/officeart/2005/8/layout/cycle5"/>
    <dgm:cxn modelId="{D7124214-4D3E-4B3F-9025-5A7E7BA67BB8}" type="presParOf" srcId="{D00DD6C4-C4FB-46B9-9C05-088C35B8DBF8}" destId="{A3B737D8-9614-438B-91BE-24550EB65FAC}" srcOrd="12" destOrd="0" presId="urn:microsoft.com/office/officeart/2005/8/layout/cycle5"/>
    <dgm:cxn modelId="{934C4FCE-3567-4326-8B54-40B1A4608A9C}" type="presParOf" srcId="{D00DD6C4-C4FB-46B9-9C05-088C35B8DBF8}" destId="{E769675E-4AEB-45D0-94AB-BD47891DE45E}" srcOrd="13" destOrd="0" presId="urn:microsoft.com/office/officeart/2005/8/layout/cycle5"/>
    <dgm:cxn modelId="{BBE8717B-68A9-4D43-B91F-3BED7DF419A4}" type="presParOf" srcId="{D00DD6C4-C4FB-46B9-9C05-088C35B8DBF8}" destId="{89836324-2640-4694-9715-A05565880E20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5A59B-1328-462D-A594-28D146726A7E}">
      <dsp:nvSpPr>
        <dsp:cNvPr id="0" name=""/>
        <dsp:cNvSpPr/>
      </dsp:nvSpPr>
      <dsp:spPr>
        <a:xfrm>
          <a:off x="3059675" y="2341"/>
          <a:ext cx="1596392" cy="1037655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Planning</a:t>
          </a:r>
          <a:br>
            <a:rPr lang="en-US" sz="1800" kern="1200" dirty="0"/>
          </a:br>
          <a:r>
            <a:rPr lang="en-US" sz="1100" kern="1200" dirty="0"/>
            <a:t>BA agent</a:t>
          </a:r>
          <a:endParaRPr lang="en-US" sz="1800" kern="1200" dirty="0"/>
        </a:p>
      </dsp:txBody>
      <dsp:txXfrm>
        <a:off x="3110329" y="52995"/>
        <a:ext cx="1495084" cy="936347"/>
      </dsp:txXfrm>
    </dsp:sp>
    <dsp:sp modelId="{FB10E3E9-B4A1-4FD5-85F9-AE21ABBC0E1D}">
      <dsp:nvSpPr>
        <dsp:cNvPr id="0" name=""/>
        <dsp:cNvSpPr/>
      </dsp:nvSpPr>
      <dsp:spPr>
        <a:xfrm>
          <a:off x="1786323" y="521169"/>
          <a:ext cx="4143095" cy="4143095"/>
        </a:xfrm>
        <a:custGeom>
          <a:avLst/>
          <a:gdLst/>
          <a:ahLst/>
          <a:cxnLst/>
          <a:rect l="0" t="0" r="0" b="0"/>
          <a:pathLst>
            <a:path>
              <a:moveTo>
                <a:pt x="3083221" y="263834"/>
              </a:moveTo>
              <a:arcTo wR="2071547" hR="2071547" stAng="17953995" swAng="121065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A6A846-74C7-4A62-AB52-DEFCC47D79F0}">
      <dsp:nvSpPr>
        <dsp:cNvPr id="0" name=""/>
        <dsp:cNvSpPr/>
      </dsp:nvSpPr>
      <dsp:spPr>
        <a:xfrm>
          <a:off x="5029834" y="1433746"/>
          <a:ext cx="1596392" cy="1037655"/>
        </a:xfrm>
        <a:prstGeom prst="roundRect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Designing</a:t>
          </a:r>
          <a:br>
            <a:rPr lang="en-US" sz="1600" kern="1200" dirty="0"/>
          </a:br>
          <a:r>
            <a:rPr lang="en-US" sz="1100" kern="1200" dirty="0"/>
            <a:t>BA agent</a:t>
          </a:r>
          <a:endParaRPr lang="en-US" sz="1800" kern="1200" dirty="0"/>
        </a:p>
      </dsp:txBody>
      <dsp:txXfrm>
        <a:off x="5080488" y="1484400"/>
        <a:ext cx="1495084" cy="936347"/>
      </dsp:txXfrm>
    </dsp:sp>
    <dsp:sp modelId="{12B39B24-67EC-4A57-BF20-A6A8A2E8DD1B}">
      <dsp:nvSpPr>
        <dsp:cNvPr id="0" name=""/>
        <dsp:cNvSpPr/>
      </dsp:nvSpPr>
      <dsp:spPr>
        <a:xfrm>
          <a:off x="1786323" y="521169"/>
          <a:ext cx="4143095" cy="4143095"/>
        </a:xfrm>
        <a:custGeom>
          <a:avLst/>
          <a:gdLst/>
          <a:ahLst/>
          <a:cxnLst/>
          <a:rect l="0" t="0" r="0" b="0"/>
          <a:pathLst>
            <a:path>
              <a:moveTo>
                <a:pt x="4138113" y="2215122"/>
              </a:moveTo>
              <a:arcTo wR="2071547" hR="2071547" stAng="21838455" swAng="135903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15CA25-178B-4BD1-8D7E-D32EFF89CF76}">
      <dsp:nvSpPr>
        <dsp:cNvPr id="0" name=""/>
        <dsp:cNvSpPr/>
      </dsp:nvSpPr>
      <dsp:spPr>
        <a:xfrm>
          <a:off x="4277300" y="3749806"/>
          <a:ext cx="1596392" cy="1037655"/>
        </a:xfrm>
        <a:prstGeom prst="roundRect">
          <a:avLst/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Development</a:t>
          </a:r>
          <a:br>
            <a:rPr lang="en-US" sz="1400" kern="1200" dirty="0"/>
          </a:br>
          <a:r>
            <a:rPr lang="en-US" sz="1100" kern="1200" dirty="0"/>
            <a:t>Dev agent (Front-end / Backend)</a:t>
          </a:r>
          <a:endParaRPr lang="en-US" sz="1400" kern="1200" dirty="0"/>
        </a:p>
      </dsp:txBody>
      <dsp:txXfrm>
        <a:off x="4327954" y="3800460"/>
        <a:ext cx="1495084" cy="936347"/>
      </dsp:txXfrm>
    </dsp:sp>
    <dsp:sp modelId="{9BB1CC76-28CD-46DB-8BFD-7A292EC037E1}">
      <dsp:nvSpPr>
        <dsp:cNvPr id="0" name=""/>
        <dsp:cNvSpPr/>
      </dsp:nvSpPr>
      <dsp:spPr>
        <a:xfrm>
          <a:off x="1786323" y="521169"/>
          <a:ext cx="4143095" cy="4143095"/>
        </a:xfrm>
        <a:custGeom>
          <a:avLst/>
          <a:gdLst/>
          <a:ahLst/>
          <a:cxnLst/>
          <a:rect l="0" t="0" r="0" b="0"/>
          <a:pathLst>
            <a:path>
              <a:moveTo>
                <a:pt x="2325484" y="4127472"/>
              </a:moveTo>
              <a:arcTo wR="2071547" hR="2071547" stAng="4977528" swAng="84494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A92D81-F77F-47F7-BEF7-4A2E896A2FF7}">
      <dsp:nvSpPr>
        <dsp:cNvPr id="0" name=""/>
        <dsp:cNvSpPr/>
      </dsp:nvSpPr>
      <dsp:spPr>
        <a:xfrm>
          <a:off x="1842049" y="3749806"/>
          <a:ext cx="1596392" cy="1037655"/>
        </a:xfrm>
        <a:prstGeom prst="round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Testing</a:t>
          </a:r>
          <a:br>
            <a:rPr lang="en-US" sz="1800" kern="1200" dirty="0"/>
          </a:br>
          <a:r>
            <a:rPr lang="en-US" sz="1100" kern="1200" dirty="0"/>
            <a:t>Tester agent</a:t>
          </a:r>
          <a:endParaRPr lang="en-US" sz="1800" kern="1200" dirty="0"/>
        </a:p>
      </dsp:txBody>
      <dsp:txXfrm>
        <a:off x="1892703" y="3800460"/>
        <a:ext cx="1495084" cy="936347"/>
      </dsp:txXfrm>
    </dsp:sp>
    <dsp:sp modelId="{FCA1B1F6-5F4B-48B8-BF0C-5B586C3BB89F}">
      <dsp:nvSpPr>
        <dsp:cNvPr id="0" name=""/>
        <dsp:cNvSpPr/>
      </dsp:nvSpPr>
      <dsp:spPr>
        <a:xfrm>
          <a:off x="1786323" y="521169"/>
          <a:ext cx="4143095" cy="4143095"/>
        </a:xfrm>
        <a:custGeom>
          <a:avLst/>
          <a:gdLst/>
          <a:ahLst/>
          <a:cxnLst/>
          <a:rect l="0" t="0" r="0" b="0"/>
          <a:pathLst>
            <a:path>
              <a:moveTo>
                <a:pt x="219667" y="2999906"/>
              </a:moveTo>
              <a:arcTo wR="2071547" hR="2071547" stAng="9202506" swAng="135903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B737D8-9614-438B-91BE-24550EB65FAC}">
      <dsp:nvSpPr>
        <dsp:cNvPr id="0" name=""/>
        <dsp:cNvSpPr/>
      </dsp:nvSpPr>
      <dsp:spPr>
        <a:xfrm>
          <a:off x="696085" y="1433746"/>
          <a:ext cx="2383254" cy="1037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Release &amp;Maintenance</a:t>
          </a:r>
          <a:br>
            <a:rPr lang="en-US" sz="1800" kern="1200" dirty="0"/>
          </a:br>
          <a:r>
            <a:rPr lang="en-US" sz="1100" kern="1200" dirty="0"/>
            <a:t>Dev agent</a:t>
          </a:r>
          <a:endParaRPr lang="en-US" sz="1800" kern="1200" dirty="0"/>
        </a:p>
      </dsp:txBody>
      <dsp:txXfrm>
        <a:off x="746739" y="1484400"/>
        <a:ext cx="2281946" cy="936347"/>
      </dsp:txXfrm>
    </dsp:sp>
    <dsp:sp modelId="{89836324-2640-4694-9715-A05565880E20}">
      <dsp:nvSpPr>
        <dsp:cNvPr id="0" name=""/>
        <dsp:cNvSpPr/>
      </dsp:nvSpPr>
      <dsp:spPr>
        <a:xfrm>
          <a:off x="1786323" y="521169"/>
          <a:ext cx="4143095" cy="4143095"/>
        </a:xfrm>
        <a:custGeom>
          <a:avLst/>
          <a:gdLst/>
          <a:ahLst/>
          <a:cxnLst/>
          <a:rect l="0" t="0" r="0" b="0"/>
          <a:pathLst>
            <a:path>
              <a:moveTo>
                <a:pt x="498428" y="723733"/>
              </a:moveTo>
              <a:arcTo wR="2071547" hR="2071547" stAng="13235355" swAng="121065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FFF13-D26D-42F7-BDE4-8A09ECBD20E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6D90F-EF86-4F30-8A60-99838EBE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2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CC874DD-DDEA-3C7C-4366-0EE1268F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3:notes">
            <a:extLst>
              <a:ext uri="{FF2B5EF4-FFF2-40B4-BE49-F238E27FC236}">
                <a16:creationId xmlns:a16="http://schemas.microsoft.com/office/drawing/2014/main" id="{D92AB161-0B9D-CC57-66F4-E0349D889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3:notes">
            <a:extLst>
              <a:ext uri="{FF2B5EF4-FFF2-40B4-BE49-F238E27FC236}">
                <a16:creationId xmlns:a16="http://schemas.microsoft.com/office/drawing/2014/main" id="{2F71906D-B0F7-E42B-25B7-71EE65626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2303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EC3C-C8F1-1A86-221A-D96146EE0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120C8-4572-930C-140C-82E42B8A3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22A8-0693-A751-C1CC-2F3A02FBB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26A415EE-CC58-4DE8-BAD6-10D6A24359CD}" type="datetime3">
              <a:rPr lang="en-US" smtClean="0"/>
              <a:t>24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3E071-FC86-A773-5970-87EDAA5E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696" y="6492874"/>
            <a:ext cx="4114800" cy="365125"/>
          </a:xfrm>
        </p:spPr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7D6C-A56D-5595-DA08-335C765E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3"/>
            <a:ext cx="2743200" cy="365125"/>
          </a:xfrm>
        </p:spPr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1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FD3A-8DEB-277C-8F0F-883B5A12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73844-1AC4-3814-C6CF-3317773EE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3B2C2-6273-72C0-62A0-43658C25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366A-3720-4672-9DE6-A579EE4DDF57}" type="datetime3">
              <a:rPr lang="en-US" smtClean="0"/>
              <a:t>24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8C84F-5677-7418-F0C3-B893174C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6582A-A8E7-ED8D-A167-9ABD2F6B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8356" y="145746"/>
            <a:ext cx="432381" cy="351211"/>
          </a:xfrm>
        </p:spPr>
        <p:txBody>
          <a:bodyPr/>
          <a:lstStyle>
            <a:lvl1pPr algn="ctr">
              <a:defRPr/>
            </a:lvl1pPr>
          </a:lstStyle>
          <a:p>
            <a:fld id="{3DEDE063-A82B-438C-8193-17C2E9260A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24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9891-9EC5-12C7-50F5-D12B2AA6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AE820-BBEB-825B-C4F5-8833DF545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8CD4E-611F-F2E9-9BC9-35BAF9B8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4427C-CFDE-4C6F-BD07-BFB0B29AF431}" type="datetime3">
              <a:rPr lang="en-US" smtClean="0"/>
              <a:t>24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3EE5D-15A2-E379-1920-6A9A7F51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C9000-40CC-FF81-F157-AB1B11C9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2B84-5061-D91B-8815-99A61192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AA368-DBB8-7AFB-9DB8-D46B2B6B6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17B7B-C335-1251-0B13-09B3B8315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CE517-84D0-D138-5425-6DD9AB95F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6270-5B13-4545-B35E-9D27870F8FEE}" type="datetime3">
              <a:rPr lang="en-US" smtClean="0"/>
              <a:t>24 March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D8C75-E888-8BC2-12E3-6872C080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9AB6C-FB7A-0509-E64D-50708C19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6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5DA6-E0D9-00E4-45CE-8E12C0F2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9408F-88A6-D70C-3E86-FE69AF6A2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21BC2-58BD-C482-3D4D-C65B1C9EA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5F66F-E397-8D9B-96AB-F10FC152A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08CA4-C18B-FCBE-DE59-0D7E5EFC1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9D0A5-E0DA-81AE-306F-E7A447C9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9FD9C-C18C-4617-BBE1-791A384B74E1}" type="datetime3">
              <a:rPr lang="en-US" smtClean="0"/>
              <a:t>24 March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286CB-22DF-A86D-45B5-89D7AD26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60F1AA-C589-B98F-24E2-09718917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6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7DA-6BC6-D6C7-C9D5-603B5D5C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D637C-53C2-3498-6F33-E22730ED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8D35-DE0D-4E96-9F31-715F69EAEEA5}" type="datetime3">
              <a:rPr lang="en-US" smtClean="0"/>
              <a:t>24 March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96CA7-D89C-0081-FA14-5359AC4D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C474D-BC46-9109-4020-67224A1F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4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43B66-3000-C79F-E546-3AAA1907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1DBD-A387-43F7-A824-4EC6BCA028CB}" type="datetime3">
              <a:rPr lang="en-US" smtClean="0"/>
              <a:t>24 March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B2B1D-8160-1B7F-1CCB-5BB80FF5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6E131-2B94-4045-13BF-1DA753135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8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0445-4E87-D66B-5182-653212E27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D1EBE-6AD9-1809-F2FF-8437887E7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247F0-B1AE-7B09-E393-FA87CB359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4A39C-2088-BADC-946E-E1FBA96E9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C135-326E-4316-A447-41D37DC90D5A}" type="datetime3">
              <a:rPr lang="en-US" smtClean="0"/>
              <a:t>24 March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79BD5-8CFA-A636-B68A-912A6C5D1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D8F4A-42D0-8293-2016-851DE078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3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9458-8B4E-8489-94EB-C01FB1B7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8B397-24FB-72B6-554D-1FE219587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8395-F56C-D5AD-6983-D6ADEC737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4D3B3-BC19-6764-25D2-552F9526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F40F-97B4-4004-9B22-A85E4398F238}" type="datetime3">
              <a:rPr lang="en-US" smtClean="0"/>
              <a:t>24 March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8A978-222C-E8E6-233A-DB8A1CD5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BE7AA-5DB2-5895-3FB4-C2C1F212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55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A552-0523-1C1B-87AB-E74C54EB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8BBEB-772E-3DDC-776F-85DD13636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CCB45-FE38-82B8-D507-3437FF72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F935-61CB-4BE3-9D0B-DE782B418360}" type="datetime3">
              <a:rPr lang="en-US" smtClean="0"/>
              <a:t>24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0F7-A2B6-3730-9AA2-DBF79818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BE2AC-F1EF-3CD6-7D47-CFF697D8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1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D826F-F47D-05A1-3D8A-C97FE5483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62A8A-D8E0-1D9F-D339-10FDDA187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6F70-EB2E-CFA1-7ADF-4DA9DE1D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AE26F-A335-46DA-8FDF-FDDEB6F5CB63}" type="datetime3">
              <a:rPr lang="en-US" smtClean="0"/>
              <a:t>24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210CD-4253-9A4A-E870-EAE1CB34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A3E18-987F-11A2-3211-1A429372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5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92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7;p2">
            <a:extLst>
              <a:ext uri="{FF2B5EF4-FFF2-40B4-BE49-F238E27FC236}">
                <a16:creationId xmlns:a16="http://schemas.microsoft.com/office/drawing/2014/main" id="{A3F89B53-9331-0AC0-5E82-FF774C7E8645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604598" y="91167"/>
            <a:ext cx="595714" cy="5489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45E68-81C2-471B-1EB9-7D00677F2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D2A05-9BAB-780B-CF10-977816E92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5F454-F4EB-1C6B-2216-4FC25F3D8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6830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37574-345F-4124-A98D-D859E9D24C9C}" type="datetime3">
              <a:rPr lang="en-US" smtClean="0"/>
              <a:t>24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2DBFC-0340-9FFA-307B-3EA57FA62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636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3D3AD-B14F-D2CA-C9B9-6E63C4877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112" y="1598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3DEDE063-A82B-438C-8193-17C2E9260AB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115;p2">
            <a:extLst>
              <a:ext uri="{FF2B5EF4-FFF2-40B4-BE49-F238E27FC236}">
                <a16:creationId xmlns:a16="http://schemas.microsoft.com/office/drawing/2014/main" id="{0893AAD0-8240-8437-605C-24F716E46BA0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-3391" y="6313425"/>
            <a:ext cx="12203704" cy="2201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845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8290560" y="365760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8851392" y="365760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9412224" y="365760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9973056" y="365760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10533888" y="365760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1094720" y="365760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8290560" y="926592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8851392" y="926592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9412224" y="926592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9973056" y="926592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10533888" y="926592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11094720" y="926592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8290560" y="1487424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8851392" y="1487424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9412224" y="1487424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9973056" y="1487424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10533888" y="1487424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11094720" y="1487424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8290560" y="2048256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8851392" y="2048256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9412224" y="2048256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9973056" y="2048256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10533888" y="2048256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11094720" y="2048256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8290560" y="2609088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8851392" y="2609088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9412224" y="2609088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9973056" y="2609088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10533888" y="2609088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11094720" y="2609088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8290560" y="3169920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8851392" y="3169920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9412224" y="3169920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Shape 34"/>
          <p:cNvSpPr/>
          <p:nvPr/>
        </p:nvSpPr>
        <p:spPr>
          <a:xfrm>
            <a:off x="9973056" y="3169920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Shape 35"/>
          <p:cNvSpPr/>
          <p:nvPr/>
        </p:nvSpPr>
        <p:spPr>
          <a:xfrm>
            <a:off x="10533888" y="3169920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11094720" y="3169920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Shape 37"/>
          <p:cNvSpPr/>
          <p:nvPr/>
        </p:nvSpPr>
        <p:spPr>
          <a:xfrm>
            <a:off x="8290560" y="3730752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8851392" y="3730752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9412224" y="3730752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Shape 40"/>
          <p:cNvSpPr/>
          <p:nvPr/>
        </p:nvSpPr>
        <p:spPr>
          <a:xfrm>
            <a:off x="9973056" y="3730752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Shape 41"/>
          <p:cNvSpPr/>
          <p:nvPr/>
        </p:nvSpPr>
        <p:spPr>
          <a:xfrm>
            <a:off x="10533888" y="3730752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11094720" y="3730752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Shape 43"/>
          <p:cNvSpPr/>
          <p:nvPr/>
        </p:nvSpPr>
        <p:spPr>
          <a:xfrm>
            <a:off x="8290560" y="4291584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Shape 44"/>
          <p:cNvSpPr/>
          <p:nvPr/>
        </p:nvSpPr>
        <p:spPr>
          <a:xfrm>
            <a:off x="8851392" y="4291584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Shape 45"/>
          <p:cNvSpPr/>
          <p:nvPr/>
        </p:nvSpPr>
        <p:spPr>
          <a:xfrm>
            <a:off x="9412224" y="4291584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Shape 46"/>
          <p:cNvSpPr/>
          <p:nvPr/>
        </p:nvSpPr>
        <p:spPr>
          <a:xfrm>
            <a:off x="9973056" y="4291584"/>
            <a:ext cx="463296" cy="463296"/>
          </a:xfrm>
          <a:prstGeom prst="rect">
            <a:avLst/>
          </a:prstGeom>
          <a:solidFill>
            <a:srgbClr val="1A56DB">
              <a:alpha val="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Shape 47"/>
          <p:cNvSpPr/>
          <p:nvPr/>
        </p:nvSpPr>
        <p:spPr>
          <a:xfrm>
            <a:off x="10533888" y="4291584"/>
            <a:ext cx="463296" cy="463296"/>
          </a:xfrm>
          <a:prstGeom prst="rect">
            <a:avLst/>
          </a:prstGeom>
          <a:solidFill>
            <a:srgbClr val="1A56DB">
              <a:alpha val="4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Shape 48"/>
          <p:cNvSpPr/>
          <p:nvPr/>
        </p:nvSpPr>
        <p:spPr>
          <a:xfrm>
            <a:off x="11094720" y="4291584"/>
            <a:ext cx="463296" cy="463296"/>
          </a:xfrm>
          <a:prstGeom prst="rect">
            <a:avLst/>
          </a:prstGeom>
          <a:solidFill>
            <a:srgbClr val="1A56DB">
              <a:alpha val="18000"/>
            </a:srgbClr>
          </a:solidFill>
          <a:ln w="635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/>
          <p:nvPr/>
        </p:nvSpPr>
        <p:spPr>
          <a:xfrm>
            <a:off x="731520" y="1219200"/>
            <a:ext cx="707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kern="0" spc="333" dirty="0">
                <a:solidFill>
                  <a:srgbClr val="D1E4FF"/>
                </a:solidFill>
              </a:rPr>
              <a:t>MICROSOFT 365 COPILOT  ·  GPT-5 LLM</a:t>
            </a:r>
            <a:endParaRPr lang="en-US" sz="1267" dirty="0"/>
          </a:p>
        </p:txBody>
      </p:sp>
      <p:sp>
        <p:nvSpPr>
          <p:cNvPr id="52" name="Text 50"/>
          <p:cNvSpPr/>
          <p:nvPr/>
        </p:nvSpPr>
        <p:spPr>
          <a:xfrm>
            <a:off x="731520" y="1767840"/>
            <a:ext cx="707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FFFF"/>
                </a:solidFill>
              </a:rPr>
              <a:t>Data Testing</a:t>
            </a:r>
            <a:endParaRPr lang="en-US" sz="5867" dirty="0"/>
          </a:p>
          <a:p>
            <a:r>
              <a:rPr lang="en-US" sz="5867" b="1" dirty="0">
                <a:solidFill>
                  <a:srgbClr val="FFFFFF"/>
                </a:solidFill>
              </a:rPr>
              <a:t>AI Agent</a:t>
            </a:r>
            <a:endParaRPr lang="en-US" sz="5867" dirty="0"/>
          </a:p>
        </p:txBody>
      </p:sp>
      <p:sp>
        <p:nvSpPr>
          <p:cNvPr id="53" name="Text 51"/>
          <p:cNvSpPr/>
          <p:nvPr/>
        </p:nvSpPr>
        <p:spPr>
          <a:xfrm>
            <a:off x="731520" y="4389120"/>
            <a:ext cx="7071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D1E4FF"/>
                </a:solidFill>
              </a:rPr>
              <a:t>Automated CTE Validation Against ETL Pipelines</a:t>
            </a:r>
            <a:br>
              <a:rPr lang="en-US" sz="1733" dirty="0">
                <a:solidFill>
                  <a:srgbClr val="D1E4FF"/>
                </a:solidFill>
              </a:rPr>
            </a:br>
            <a:r>
              <a:rPr lang="en-US" sz="1733" dirty="0">
                <a:solidFill>
                  <a:srgbClr val="D1E4FF"/>
                </a:solidFill>
              </a:rPr>
              <a:t>Quynh Trang Dang / Charis Dang</a:t>
            </a:r>
            <a:endParaRPr lang="en-US" sz="1733" dirty="0"/>
          </a:p>
        </p:txBody>
      </p:sp>
      <p:sp>
        <p:nvSpPr>
          <p:cNvPr id="54" name="Shape 5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A162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5" name="Text 53"/>
          <p:cNvSpPr/>
          <p:nvPr/>
        </p:nvSpPr>
        <p:spPr>
          <a:xfrm>
            <a:off x="731520" y="6217920"/>
            <a:ext cx="975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64748B"/>
                </a:solidFill>
              </a:rPr>
              <a:t>Confidential  ·  Data Platform Team  ·  2025</a:t>
            </a:r>
            <a:endParaRPr lang="en-US" sz="1333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7BDD36-D471-7725-556F-C08EC2DE15A2}"/>
              </a:ext>
            </a:extLst>
          </p:cNvPr>
          <p:cNvSpPr/>
          <p:nvPr/>
        </p:nvSpPr>
        <p:spPr>
          <a:xfrm>
            <a:off x="11594307" y="36576"/>
            <a:ext cx="599404" cy="6583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964-10C7-9D88-A44D-BF0A33EE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0FD49-5D2E-604B-8D69-80AA12A741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Google Shape;104;p2">
            <a:extLst>
              <a:ext uri="{FF2B5EF4-FFF2-40B4-BE49-F238E27FC236}">
                <a16:creationId xmlns:a16="http://schemas.microsoft.com/office/drawing/2014/main" id="{1AB0AF20-0D7C-F9CF-FDCE-2F746F1EEF54}"/>
              </a:ext>
            </a:extLst>
          </p:cNvPr>
          <p:cNvSpPr txBox="1"/>
          <p:nvPr/>
        </p:nvSpPr>
        <p:spPr>
          <a:xfrm>
            <a:off x="2715046" y="3053685"/>
            <a:ext cx="277036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we’ll cover today?</a:t>
            </a:r>
            <a:endParaRPr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F2BD93-DF7D-2DFF-3255-F5955E67DBF1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A56DB"/>
                </a:solidFill>
              </a:rPr>
              <a:t>OVERVIEW</a:t>
            </a:r>
            <a:endParaRPr lang="en-US" sz="8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2B8F2A7-FCD8-AABE-2DEC-0C2B040B6DEF}"/>
              </a:ext>
            </a:extLst>
          </p:cNvPr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</a:rPr>
              <a:t>What We'll Cover Today</a:t>
            </a:r>
            <a:endParaRPr lang="en-US" sz="28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EA5AC63-168B-3230-D86C-CD22DA98B4E2}"/>
              </a:ext>
            </a:extLst>
          </p:cNvPr>
          <p:cNvSpPr/>
          <p:nvPr/>
        </p:nvSpPr>
        <p:spPr>
          <a:xfrm>
            <a:off x="1834928" y="18013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AB201BD-D8F2-0295-3AF7-4096DD0029D7}"/>
              </a:ext>
            </a:extLst>
          </p:cNvPr>
          <p:cNvSpPr/>
          <p:nvPr/>
        </p:nvSpPr>
        <p:spPr>
          <a:xfrm>
            <a:off x="1834928" y="1801368"/>
            <a:ext cx="502920" cy="96012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1A8FA70-0EB3-2970-ABDA-56865429C399}"/>
              </a:ext>
            </a:extLst>
          </p:cNvPr>
          <p:cNvSpPr/>
          <p:nvPr/>
        </p:nvSpPr>
        <p:spPr>
          <a:xfrm>
            <a:off x="1834928" y="18013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2C471C3-8342-79F4-1CE8-7347EA044C18}"/>
              </a:ext>
            </a:extLst>
          </p:cNvPr>
          <p:cNvSpPr/>
          <p:nvPr/>
        </p:nvSpPr>
        <p:spPr>
          <a:xfrm>
            <a:off x="2429288" y="19110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DD52ED2-2DC6-7355-9718-F8EDBDA86F10}"/>
              </a:ext>
            </a:extLst>
          </p:cNvPr>
          <p:cNvSpPr/>
          <p:nvPr/>
        </p:nvSpPr>
        <p:spPr>
          <a:xfrm>
            <a:off x="2429288" y="22768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Manual testing limits &amp; generic AI shortfalls</a:t>
            </a:r>
            <a:endParaRPr lang="en-US" sz="10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0EBF51FA-6E51-A40C-E322-EC68498652C5}"/>
              </a:ext>
            </a:extLst>
          </p:cNvPr>
          <p:cNvSpPr/>
          <p:nvPr/>
        </p:nvSpPr>
        <p:spPr>
          <a:xfrm>
            <a:off x="1834928" y="291693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BE169EE-8D6C-0012-BD50-DDE05417B293}"/>
              </a:ext>
            </a:extLst>
          </p:cNvPr>
          <p:cNvSpPr/>
          <p:nvPr/>
        </p:nvSpPr>
        <p:spPr>
          <a:xfrm>
            <a:off x="1834928" y="2916936"/>
            <a:ext cx="502920" cy="96012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385409F5-942C-3BDE-296B-CD5723AFA1E4}"/>
              </a:ext>
            </a:extLst>
          </p:cNvPr>
          <p:cNvSpPr/>
          <p:nvPr/>
        </p:nvSpPr>
        <p:spPr>
          <a:xfrm>
            <a:off x="1834928" y="2916936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02C00D4-B15E-797F-CEA1-B5D7B0BB899C}"/>
              </a:ext>
            </a:extLst>
          </p:cNvPr>
          <p:cNvSpPr/>
          <p:nvPr/>
        </p:nvSpPr>
        <p:spPr>
          <a:xfrm>
            <a:off x="2429288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AI Maturity Levels</a:t>
            </a:r>
            <a:endParaRPr lang="en-US" sz="13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8133D5E-51C2-C7D2-9EA2-752FD8EE4D7F}"/>
              </a:ext>
            </a:extLst>
          </p:cNvPr>
          <p:cNvSpPr/>
          <p:nvPr/>
        </p:nvSpPr>
        <p:spPr>
          <a:xfrm>
            <a:off x="2429288" y="33924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From Intern to Senior — where this agent sits</a:t>
            </a:r>
            <a:endParaRPr lang="en-US" sz="105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569997F2-A1B8-538C-6929-77B721EC256E}"/>
              </a:ext>
            </a:extLst>
          </p:cNvPr>
          <p:cNvSpPr/>
          <p:nvPr/>
        </p:nvSpPr>
        <p:spPr>
          <a:xfrm>
            <a:off x="1834928" y="403250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505BD50C-834E-8D61-D37F-198A70E17510}"/>
              </a:ext>
            </a:extLst>
          </p:cNvPr>
          <p:cNvSpPr/>
          <p:nvPr/>
        </p:nvSpPr>
        <p:spPr>
          <a:xfrm>
            <a:off x="1834928" y="4032504"/>
            <a:ext cx="502920" cy="96012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8D58D6E2-2B05-CC94-C449-8EEFDECD3B29}"/>
              </a:ext>
            </a:extLst>
          </p:cNvPr>
          <p:cNvSpPr/>
          <p:nvPr/>
        </p:nvSpPr>
        <p:spPr>
          <a:xfrm>
            <a:off x="1834928" y="4032504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4331358F-2CCE-2A67-CB1F-263555A563DD}"/>
              </a:ext>
            </a:extLst>
          </p:cNvPr>
          <p:cNvSpPr/>
          <p:nvPr/>
        </p:nvSpPr>
        <p:spPr>
          <a:xfrm>
            <a:off x="2429288" y="4142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Agent Design</a:t>
            </a:r>
            <a:endParaRPr lang="en-US" sz="13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F191F8E-2452-148C-B136-FC1E720D9827}"/>
              </a:ext>
            </a:extLst>
          </p:cNvPr>
          <p:cNvSpPr/>
          <p:nvPr/>
        </p:nvSpPr>
        <p:spPr>
          <a:xfrm>
            <a:off x="2429288" y="4507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QC role shift, agent ecosystem &amp; scope</a:t>
            </a:r>
            <a:endParaRPr lang="en-US" sz="105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80F3026C-4818-EA89-5D07-B53F15789AEB}"/>
              </a:ext>
            </a:extLst>
          </p:cNvPr>
          <p:cNvSpPr/>
          <p:nvPr/>
        </p:nvSpPr>
        <p:spPr>
          <a:xfrm>
            <a:off x="6269768" y="18013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72C3A810-9EA6-14BF-EAAD-419117CEE2A0}"/>
              </a:ext>
            </a:extLst>
          </p:cNvPr>
          <p:cNvSpPr/>
          <p:nvPr/>
        </p:nvSpPr>
        <p:spPr>
          <a:xfrm>
            <a:off x="6269768" y="1801368"/>
            <a:ext cx="502920" cy="96012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14AC1729-4520-D5BF-62BF-90492CDD9C76}"/>
              </a:ext>
            </a:extLst>
          </p:cNvPr>
          <p:cNvSpPr/>
          <p:nvPr/>
        </p:nvSpPr>
        <p:spPr>
          <a:xfrm>
            <a:off x="6269768" y="18013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8D69283F-B1AB-F68F-99F7-136F9E8EC28B}"/>
              </a:ext>
            </a:extLst>
          </p:cNvPr>
          <p:cNvSpPr/>
          <p:nvPr/>
        </p:nvSpPr>
        <p:spPr>
          <a:xfrm>
            <a:off x="6864128" y="19110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2B27C44-C737-832E-69FF-1C4AD456FD54}"/>
              </a:ext>
            </a:extLst>
          </p:cNvPr>
          <p:cNvSpPr/>
          <p:nvPr/>
        </p:nvSpPr>
        <p:spPr>
          <a:xfrm>
            <a:off x="6864128" y="22768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CTE validation workflow end-to-end</a:t>
            </a:r>
            <a:endParaRPr lang="en-US" sz="105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8A37DC15-3817-105F-13C8-8ECDDBC034DC}"/>
              </a:ext>
            </a:extLst>
          </p:cNvPr>
          <p:cNvSpPr/>
          <p:nvPr/>
        </p:nvSpPr>
        <p:spPr>
          <a:xfrm>
            <a:off x="6269768" y="291693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2C76C58E-BF57-6586-1411-E5EFACC76FB8}"/>
              </a:ext>
            </a:extLst>
          </p:cNvPr>
          <p:cNvSpPr/>
          <p:nvPr/>
        </p:nvSpPr>
        <p:spPr>
          <a:xfrm>
            <a:off x="6269768" y="2916936"/>
            <a:ext cx="502920" cy="96012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4A8421B9-DD8B-823C-993F-DD210512D034}"/>
              </a:ext>
            </a:extLst>
          </p:cNvPr>
          <p:cNvSpPr/>
          <p:nvPr/>
        </p:nvSpPr>
        <p:spPr>
          <a:xfrm>
            <a:off x="6269768" y="2916936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A2CB71F2-1F2E-0893-3419-D96B9D3A77D0}"/>
              </a:ext>
            </a:extLst>
          </p:cNvPr>
          <p:cNvSpPr/>
          <p:nvPr/>
        </p:nvSpPr>
        <p:spPr>
          <a:xfrm>
            <a:off x="6864128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Live Demo</a:t>
            </a:r>
            <a:endParaRPr lang="en-US" sz="13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77C1868E-64E1-95D5-41B5-16196EF7BE55}"/>
              </a:ext>
            </a:extLst>
          </p:cNvPr>
          <p:cNvSpPr/>
          <p:nvPr/>
        </p:nvSpPr>
        <p:spPr>
          <a:xfrm>
            <a:off x="6864128" y="33924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Agent writing and validating CTEs in real time</a:t>
            </a:r>
            <a:endParaRPr lang="en-US" sz="1050" dirty="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3E31F852-0214-484F-8877-27B36B9111FB}"/>
              </a:ext>
            </a:extLst>
          </p:cNvPr>
          <p:cNvSpPr/>
          <p:nvPr/>
        </p:nvSpPr>
        <p:spPr>
          <a:xfrm>
            <a:off x="6269768" y="4032504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8728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34C57-C567-FE87-6033-33014B81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1">
            <a:extLst>
              <a:ext uri="{FF2B5EF4-FFF2-40B4-BE49-F238E27FC236}">
                <a16:creationId xmlns:a16="http://schemas.microsoft.com/office/drawing/2014/main" id="{884ED81F-3A6E-B7C4-94AB-FF998FA56C2A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A56DB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2BFB2522-001A-19C8-1118-BED640545029}"/>
              </a:ext>
            </a:extLst>
          </p:cNvPr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</a:rPr>
              <a:t>Why Current Approaches Fall Short</a:t>
            </a:r>
            <a:endParaRPr lang="en-US" sz="2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F855D1-012D-201B-3123-3BCABA98E534}"/>
              </a:ext>
            </a:extLst>
          </p:cNvPr>
          <p:cNvGrpSpPr/>
          <p:nvPr/>
        </p:nvGrpSpPr>
        <p:grpSpPr>
          <a:xfrm>
            <a:off x="1205948" y="1188719"/>
            <a:ext cx="4161579" cy="1460374"/>
            <a:chOff x="1700784" y="1531620"/>
            <a:chExt cx="8321040" cy="1115568"/>
          </a:xfrm>
        </p:grpSpPr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81854D3E-19D8-03C8-3097-4E9EEB50258B}"/>
                </a:ext>
              </a:extLst>
            </p:cNvPr>
            <p:cNvSpPr/>
            <p:nvPr/>
          </p:nvSpPr>
          <p:spPr>
            <a:xfrm>
              <a:off x="1700784" y="1531620"/>
              <a:ext cx="832104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4">
              <a:extLst>
                <a:ext uri="{FF2B5EF4-FFF2-40B4-BE49-F238E27FC236}">
                  <a16:creationId xmlns:a16="http://schemas.microsoft.com/office/drawing/2014/main" id="{9A1EFBA0-DF7A-F979-C4DB-F96E22029273}"/>
                </a:ext>
              </a:extLst>
            </p:cNvPr>
            <p:cNvSpPr/>
            <p:nvPr/>
          </p:nvSpPr>
          <p:spPr>
            <a:xfrm>
              <a:off x="1700784" y="1531620"/>
              <a:ext cx="73152" cy="1115568"/>
            </a:xfrm>
            <a:prstGeom prst="rect">
              <a:avLst/>
            </a:prstGeom>
            <a:solidFill>
              <a:srgbClr val="B91C1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">
              <a:extLst>
                <a:ext uri="{FF2B5EF4-FFF2-40B4-BE49-F238E27FC236}">
                  <a16:creationId xmlns:a16="http://schemas.microsoft.com/office/drawing/2014/main" id="{BA30730A-F8CD-C08D-21C2-BEF88DCAE084}"/>
                </a:ext>
              </a:extLst>
            </p:cNvPr>
            <p:cNvSpPr/>
            <p:nvPr/>
          </p:nvSpPr>
          <p:spPr>
            <a:xfrm>
              <a:off x="1911096" y="1623060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✍️  Manual CTE Writing Is a Bottleneck</a:t>
              </a:r>
              <a:endParaRPr lang="en-US" sz="1300" dirty="0"/>
            </a:p>
          </p:txBody>
        </p:sp>
        <p:sp>
          <p:nvSpPr>
            <p:cNvPr id="56" name="Text 6">
              <a:extLst>
                <a:ext uri="{FF2B5EF4-FFF2-40B4-BE49-F238E27FC236}">
                  <a16:creationId xmlns:a16="http://schemas.microsoft.com/office/drawing/2014/main" id="{BDD22134-27C4-7414-E978-D8FC963337FE}"/>
                </a:ext>
              </a:extLst>
            </p:cNvPr>
            <p:cNvSpPr/>
            <p:nvPr/>
          </p:nvSpPr>
          <p:spPr>
            <a:xfrm>
              <a:off x="1911096" y="1943100"/>
              <a:ext cx="79552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Requires deep SQL expertise  </a:t>
              </a:r>
              <a:r>
                <a:rPr lang="en-US" sz="1100" dirty="0">
                  <a:solidFill>
                    <a:srgbClr val="B91C1C"/>
                  </a:solidFill>
                </a:rPr>
                <a:t>·</a:t>
              </a:r>
              <a:r>
                <a:rPr lang="en-US" sz="1100" dirty="0">
                  <a:solidFill>
                    <a:srgbClr val="64748B"/>
                  </a:solidFill>
                </a:rPr>
                <a:t>  Demands massive domain knowledge of Data Platform &amp; ETL logic  </a:t>
              </a:r>
              <a:r>
                <a:rPr lang="en-US" sz="1100" dirty="0">
                  <a:solidFill>
                    <a:srgbClr val="B91C1C"/>
                  </a:solidFill>
                </a:rPr>
                <a:t>·</a:t>
              </a:r>
              <a:r>
                <a:rPr lang="en-US" sz="1100" dirty="0">
                  <a:solidFill>
                    <a:srgbClr val="64748B"/>
                  </a:solidFill>
                </a:rPr>
                <a:t>  Not scalable as pipeline complexity grows</a:t>
              </a:r>
              <a:endParaRPr lang="en-US" sz="11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FBA09FA-E32C-2E95-F350-CB916A0DB86D}"/>
              </a:ext>
            </a:extLst>
          </p:cNvPr>
          <p:cNvGrpSpPr/>
          <p:nvPr/>
        </p:nvGrpSpPr>
        <p:grpSpPr>
          <a:xfrm>
            <a:off x="6460701" y="1153556"/>
            <a:ext cx="4161579" cy="1495537"/>
            <a:chOff x="1700784" y="2811780"/>
            <a:chExt cx="8321040" cy="1234440"/>
          </a:xfrm>
        </p:grpSpPr>
        <p:sp>
          <p:nvSpPr>
            <p:cNvPr id="57" name="Shape 7">
              <a:extLst>
                <a:ext uri="{FF2B5EF4-FFF2-40B4-BE49-F238E27FC236}">
                  <a16:creationId xmlns:a16="http://schemas.microsoft.com/office/drawing/2014/main" id="{F04A9EA9-44DA-A0F0-9F4C-7695BA087DAF}"/>
                </a:ext>
              </a:extLst>
            </p:cNvPr>
            <p:cNvSpPr/>
            <p:nvPr/>
          </p:nvSpPr>
          <p:spPr>
            <a:xfrm>
              <a:off x="1700784" y="2811780"/>
              <a:ext cx="832104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Shape 8">
              <a:extLst>
                <a:ext uri="{FF2B5EF4-FFF2-40B4-BE49-F238E27FC236}">
                  <a16:creationId xmlns:a16="http://schemas.microsoft.com/office/drawing/2014/main" id="{16A4B192-583C-5DC8-6024-22642F82D9F3}"/>
                </a:ext>
              </a:extLst>
            </p:cNvPr>
            <p:cNvSpPr/>
            <p:nvPr/>
          </p:nvSpPr>
          <p:spPr>
            <a:xfrm>
              <a:off x="1700784" y="2811780"/>
              <a:ext cx="73152" cy="123444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FACCC77C-F70E-2A2C-49BC-A96601F48542}"/>
                </a:ext>
              </a:extLst>
            </p:cNvPr>
            <p:cNvSpPr/>
            <p:nvPr/>
          </p:nvSpPr>
          <p:spPr>
            <a:xfrm>
              <a:off x="1911096" y="2903220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🤖  Generic AI Lacks Context</a:t>
              </a:r>
              <a:endParaRPr lang="en-US" sz="1300" dirty="0"/>
            </a:p>
          </p:txBody>
        </p:sp>
        <p:sp>
          <p:nvSpPr>
            <p:cNvPr id="60" name="Text 10">
              <a:extLst>
                <a:ext uri="{FF2B5EF4-FFF2-40B4-BE49-F238E27FC236}">
                  <a16:creationId xmlns:a16="http://schemas.microsoft.com/office/drawing/2014/main" id="{F16DB004-7FE8-1AFF-CBAC-A5495D45E16C}"/>
                </a:ext>
              </a:extLst>
            </p:cNvPr>
            <p:cNvSpPr/>
            <p:nvPr/>
          </p:nvSpPr>
          <p:spPr>
            <a:xfrm>
              <a:off x="1911096" y="3232404"/>
              <a:ext cx="7955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59E0B"/>
                  </a:solidFill>
                </a:rPr>
                <a:t>—  </a:t>
              </a:r>
              <a:r>
                <a:rPr lang="en-US" sz="1100" dirty="0">
                  <a:solidFill>
                    <a:srgbClr val="64748B"/>
                  </a:solidFill>
                </a:rPr>
                <a:t>No awareness of internal systems</a:t>
              </a:r>
              <a:endParaRPr lang="en-US" sz="1100" dirty="0"/>
            </a:p>
          </p:txBody>
        </p:sp>
        <p:sp>
          <p:nvSpPr>
            <p:cNvPr id="61" name="Text 11">
              <a:extLst>
                <a:ext uri="{FF2B5EF4-FFF2-40B4-BE49-F238E27FC236}">
                  <a16:creationId xmlns:a16="http://schemas.microsoft.com/office/drawing/2014/main" id="{1711458A-FDEA-9219-6DBA-94F4F3C5D7ED}"/>
                </a:ext>
              </a:extLst>
            </p:cNvPr>
            <p:cNvSpPr/>
            <p:nvPr/>
          </p:nvSpPr>
          <p:spPr>
            <a:xfrm>
              <a:off x="1911096" y="3488436"/>
              <a:ext cx="7955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59E0B"/>
                  </a:solidFill>
                </a:rPr>
                <a:t>—  </a:t>
              </a:r>
              <a:r>
                <a:rPr lang="en-US" sz="1100" dirty="0">
                  <a:solidFill>
                    <a:srgbClr val="64748B"/>
                  </a:solidFill>
                </a:rPr>
                <a:t>Outputs are vague and lack business context — not actionable for your Data Platform</a:t>
              </a:r>
              <a:endParaRPr lang="en-US" sz="1100" dirty="0"/>
            </a:p>
          </p:txBody>
        </p:sp>
        <p:sp>
          <p:nvSpPr>
            <p:cNvPr id="62" name="Text 12">
              <a:extLst>
                <a:ext uri="{FF2B5EF4-FFF2-40B4-BE49-F238E27FC236}">
                  <a16:creationId xmlns:a16="http://schemas.microsoft.com/office/drawing/2014/main" id="{19D16415-2609-4DFB-6550-E33340D362D8}"/>
                </a:ext>
              </a:extLst>
            </p:cNvPr>
            <p:cNvSpPr/>
            <p:nvPr/>
          </p:nvSpPr>
          <p:spPr>
            <a:xfrm>
              <a:off x="1911096" y="3744468"/>
              <a:ext cx="7955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59E0B"/>
                  </a:solidFill>
                </a:rPr>
                <a:t>—  </a:t>
              </a:r>
              <a:r>
                <a:rPr lang="en-US" sz="1100" dirty="0">
                  <a:solidFill>
                    <a:srgbClr val="64748B"/>
                  </a:solidFill>
                </a:rPr>
                <a:t>No connection to internal systems — cannot reason about your actual pipeline design</a:t>
              </a:r>
              <a:endParaRPr lang="en-US" sz="11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177456B-7984-325A-9744-375288CDC8D2}"/>
              </a:ext>
            </a:extLst>
          </p:cNvPr>
          <p:cNvGrpSpPr/>
          <p:nvPr/>
        </p:nvGrpSpPr>
        <p:grpSpPr>
          <a:xfrm>
            <a:off x="1205950" y="4591805"/>
            <a:ext cx="4157888" cy="1551813"/>
            <a:chOff x="1700784" y="4210809"/>
            <a:chExt cx="8321041" cy="804675"/>
          </a:xfrm>
        </p:grpSpPr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18D3D5F8-1BAD-7575-1734-75BCBE2CA949}"/>
                </a:ext>
              </a:extLst>
            </p:cNvPr>
            <p:cNvSpPr/>
            <p:nvPr/>
          </p:nvSpPr>
          <p:spPr>
            <a:xfrm>
              <a:off x="1700784" y="4210809"/>
              <a:ext cx="8321041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14">
              <a:extLst>
                <a:ext uri="{FF2B5EF4-FFF2-40B4-BE49-F238E27FC236}">
                  <a16:creationId xmlns:a16="http://schemas.microsoft.com/office/drawing/2014/main" id="{F500F43C-3F34-C9A5-270D-4678E7FCFC91}"/>
                </a:ext>
              </a:extLst>
            </p:cNvPr>
            <p:cNvSpPr/>
            <p:nvPr/>
          </p:nvSpPr>
          <p:spPr>
            <a:xfrm>
              <a:off x="1700784" y="4210812"/>
              <a:ext cx="73152" cy="804672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33697B49-AA4D-B5D7-078B-81ED82BD242A}"/>
                </a:ext>
              </a:extLst>
            </p:cNvPr>
            <p:cNvSpPr/>
            <p:nvPr/>
          </p:nvSpPr>
          <p:spPr>
            <a:xfrm>
              <a:off x="1911096" y="4302252"/>
              <a:ext cx="7955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⚠️  Hallucination Risk&amp; Knowledge boundaries</a:t>
              </a:r>
              <a:endParaRPr lang="en-US" sz="1300" dirty="0"/>
            </a:p>
          </p:txBody>
        </p:sp>
        <p:sp>
          <p:nvSpPr>
            <p:cNvPr id="66" name="Text 16">
              <a:extLst>
                <a:ext uri="{FF2B5EF4-FFF2-40B4-BE49-F238E27FC236}">
                  <a16:creationId xmlns:a16="http://schemas.microsoft.com/office/drawing/2014/main" id="{AFA5C03F-8C13-D5C8-582C-D40C4DFBC6AC}"/>
                </a:ext>
              </a:extLst>
            </p:cNvPr>
            <p:cNvSpPr/>
            <p:nvPr/>
          </p:nvSpPr>
          <p:spPr>
            <a:xfrm>
              <a:off x="1911096" y="4622292"/>
              <a:ext cx="79552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Generic LLMs confidently generate plausible-looking but incorrect result, reduce the outcomes quality</a:t>
              </a:r>
              <a:endParaRPr lang="en-US" sz="1100" dirty="0"/>
            </a:p>
          </p:txBody>
        </p:sp>
      </p:grpSp>
      <p:sp>
        <p:nvSpPr>
          <p:cNvPr id="67" name="Slide Number Placeholder 3">
            <a:extLst>
              <a:ext uri="{FF2B5EF4-FFF2-40B4-BE49-F238E27FC236}">
                <a16:creationId xmlns:a16="http://schemas.microsoft.com/office/drawing/2014/main" id="{E9E9731A-0EEE-3F7E-A6C3-7D5904E14D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698356" y="145746"/>
            <a:ext cx="432381" cy="351211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FA07109E-A278-584B-EB04-3DBCEEC0471F}"/>
              </a:ext>
            </a:extLst>
          </p:cNvPr>
          <p:cNvSpPr/>
          <p:nvPr/>
        </p:nvSpPr>
        <p:spPr>
          <a:xfrm>
            <a:off x="1209639" y="2844539"/>
            <a:ext cx="4157888" cy="15518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318909F3-B8F2-E141-927D-A84EF1F8D544}"/>
              </a:ext>
            </a:extLst>
          </p:cNvPr>
          <p:cNvSpPr/>
          <p:nvPr/>
        </p:nvSpPr>
        <p:spPr>
          <a:xfrm>
            <a:off x="1209638" y="2844545"/>
            <a:ext cx="45719" cy="1551813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B49CA19F-6C40-2188-431E-BEB74A086F67}"/>
              </a:ext>
            </a:extLst>
          </p:cNvPr>
          <p:cNvSpPr/>
          <p:nvPr/>
        </p:nvSpPr>
        <p:spPr>
          <a:xfrm>
            <a:off x="1365071" y="2906566"/>
            <a:ext cx="3975123" cy="56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34155"/>
                </a:solidFill>
              </a:rPr>
              <a:t>⚠️  Nondeterministic</a:t>
            </a:r>
            <a:endParaRPr lang="en-US" sz="1300" dirty="0"/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54F56DCE-0B6B-2A1B-BDDD-F8B6AFC97DD9}"/>
              </a:ext>
            </a:extLst>
          </p:cNvPr>
          <p:cNvSpPr/>
          <p:nvPr/>
        </p:nvSpPr>
        <p:spPr>
          <a:xfrm>
            <a:off x="1302898" y="3555076"/>
            <a:ext cx="3975123" cy="61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same prompt can produce different results each time. </a:t>
            </a:r>
            <a:endParaRPr lang="en-US" sz="11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2183FA97-C81E-52CC-DEC0-B65D84F2F356}"/>
              </a:ext>
            </a:extLst>
          </p:cNvPr>
          <p:cNvSpPr/>
          <p:nvPr/>
        </p:nvSpPr>
        <p:spPr>
          <a:xfrm>
            <a:off x="6460702" y="2852722"/>
            <a:ext cx="4157888" cy="15518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90163510-2769-E212-7D19-E533765FEFE8}"/>
              </a:ext>
            </a:extLst>
          </p:cNvPr>
          <p:cNvSpPr/>
          <p:nvPr/>
        </p:nvSpPr>
        <p:spPr>
          <a:xfrm>
            <a:off x="6460702" y="2852728"/>
            <a:ext cx="31086" cy="1551813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322BC06C-D08B-E29A-138A-E14BC551990A}"/>
              </a:ext>
            </a:extLst>
          </p:cNvPr>
          <p:cNvSpPr/>
          <p:nvPr/>
        </p:nvSpPr>
        <p:spPr>
          <a:xfrm>
            <a:off x="6616134" y="2914749"/>
            <a:ext cx="3380629" cy="56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34155"/>
                </a:solidFill>
              </a:rPr>
              <a:t>⚠️  Context-dependent</a:t>
            </a:r>
            <a:endParaRPr lang="en-US" sz="13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8E23DF54-FB6F-2DEF-F945-1046085A7E72}"/>
              </a:ext>
            </a:extLst>
          </p:cNvPr>
          <p:cNvSpPr/>
          <p:nvPr/>
        </p:nvSpPr>
        <p:spPr>
          <a:xfrm>
            <a:off x="6553961" y="3563259"/>
            <a:ext cx="3380629" cy="61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quality of the response depends on the quality and relevance of the context provided in the prompt</a:t>
            </a:r>
            <a:endParaRPr lang="en-US" sz="11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25F7859A-B10F-9C1F-0D18-BA66DECBD15F}"/>
              </a:ext>
            </a:extLst>
          </p:cNvPr>
          <p:cNvSpPr/>
          <p:nvPr/>
        </p:nvSpPr>
        <p:spPr>
          <a:xfrm>
            <a:off x="6460702" y="4596105"/>
            <a:ext cx="4157888" cy="15518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4C65BA8A-E16E-A547-E948-ED8949D9C7D0}"/>
              </a:ext>
            </a:extLst>
          </p:cNvPr>
          <p:cNvSpPr/>
          <p:nvPr/>
        </p:nvSpPr>
        <p:spPr>
          <a:xfrm>
            <a:off x="6460702" y="4596111"/>
            <a:ext cx="31086" cy="1551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331AD22-E4B4-E834-73EA-600440748C2E}"/>
              </a:ext>
            </a:extLst>
          </p:cNvPr>
          <p:cNvSpPr/>
          <p:nvPr/>
        </p:nvSpPr>
        <p:spPr>
          <a:xfrm>
            <a:off x="6616134" y="4658132"/>
            <a:ext cx="3380629" cy="56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334155"/>
                </a:solidFill>
              </a:rPr>
              <a:t>⚠️  Context-Window Limit</a:t>
            </a:r>
            <a:endParaRPr lang="en-US" sz="13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9CF9DFD-1ED9-F2DF-BD47-06C9791C5D41}"/>
              </a:ext>
            </a:extLst>
          </p:cNvPr>
          <p:cNvSpPr/>
          <p:nvPr/>
        </p:nvSpPr>
        <p:spPr>
          <a:xfrm>
            <a:off x="6553961" y="5306642"/>
            <a:ext cx="3990575" cy="56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Is the total amount of information a model can process. Different models have different context window sizes. </a:t>
            </a:r>
            <a:br>
              <a:rPr lang="en-US" sz="1100" dirty="0">
                <a:solidFill>
                  <a:srgbClr val="64748B"/>
                </a:solidFill>
              </a:rPr>
            </a:br>
            <a:br>
              <a:rPr lang="en-US" sz="1100" dirty="0">
                <a:solidFill>
                  <a:srgbClr val="64748B"/>
                </a:solidFill>
              </a:rPr>
            </a:br>
            <a:r>
              <a:rPr lang="en-US" sz="1100" dirty="0">
                <a:solidFill>
                  <a:srgbClr val="64748B"/>
                </a:solidFill>
              </a:rPr>
              <a:t>Feeding too many context in a single request can lost some details. </a:t>
            </a:r>
            <a:endParaRPr lang="en-US" sz="1100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4D0047F4-89DA-FB42-8B68-BADB2652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8303"/>
            <a:ext cx="2743200" cy="365125"/>
          </a:xfrm>
        </p:spPr>
        <p:txBody>
          <a:bodyPr/>
          <a:lstStyle/>
          <a:p>
            <a:fld id="{ABAD366A-3720-4672-9DE6-A579EE4DDF57}" type="datetime3">
              <a:rPr lang="en-US" smtClean="0"/>
              <a:t>24 March 2026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E082D8E3-661A-3D51-675B-8CD7F48F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3610"/>
            <a:ext cx="4114800" cy="365125"/>
          </a:xfrm>
        </p:spPr>
        <p:txBody>
          <a:bodyPr/>
          <a:lstStyle/>
          <a:p>
            <a:r>
              <a:rPr lang="en-US"/>
              <a:t>trangdq.os@ncb-bank.vn</a:t>
            </a:r>
          </a:p>
        </p:txBody>
      </p:sp>
    </p:spTree>
    <p:extLst>
      <p:ext uri="{BB962C8B-B14F-4D97-AF65-F5344CB8AC3E}">
        <p14:creationId xmlns:p14="http://schemas.microsoft.com/office/powerpoint/2010/main" val="168058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5C3AD-9B7D-9592-300F-BF826000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366A-3720-4672-9DE6-A579EE4DDF57}" type="datetime3">
              <a:rPr lang="en-US" smtClean="0"/>
              <a:t>24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A72E1-BB52-86FB-7BC7-0628D32E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3CC7E-7A4E-85D3-A283-D4F95D2F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D67743CB-3095-EE0E-37A9-545E3F960E48}"/>
              </a:ext>
            </a:extLst>
          </p:cNvPr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</a:rPr>
              <a:t>AI Capability Levels — Think Like Hiring</a:t>
            </a:r>
            <a:endParaRPr lang="en-US" sz="2800" dirty="0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849C36B0-7FF6-4A3A-A0AD-F8008AE43933}"/>
              </a:ext>
            </a:extLst>
          </p:cNvPr>
          <p:cNvSpPr/>
          <p:nvPr/>
        </p:nvSpPr>
        <p:spPr>
          <a:xfrm>
            <a:off x="1170432" y="136707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"The more context and access you give AI, the more senior it behaves."</a:t>
            </a:r>
            <a:endParaRPr lang="en-US" sz="1150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242BE07-FB21-7074-518F-D52C1636ECBE}"/>
              </a:ext>
            </a:extLst>
          </p:cNvPr>
          <p:cNvGrpSpPr/>
          <p:nvPr/>
        </p:nvGrpSpPr>
        <p:grpSpPr>
          <a:xfrm>
            <a:off x="1170432" y="2054936"/>
            <a:ext cx="2011680" cy="3825137"/>
            <a:chOff x="1874520" y="2045311"/>
            <a:chExt cx="2011680" cy="3127248"/>
          </a:xfrm>
        </p:grpSpPr>
        <p:sp>
          <p:nvSpPr>
            <p:cNvPr id="52" name="Shape 4">
              <a:extLst>
                <a:ext uri="{FF2B5EF4-FFF2-40B4-BE49-F238E27FC236}">
                  <a16:creationId xmlns:a16="http://schemas.microsoft.com/office/drawing/2014/main" id="{C693B51A-E61A-089F-AA90-615BB994B3BE}"/>
                </a:ext>
              </a:extLst>
            </p:cNvPr>
            <p:cNvSpPr/>
            <p:nvPr/>
          </p:nvSpPr>
          <p:spPr>
            <a:xfrm>
              <a:off x="1874520" y="2045311"/>
              <a:ext cx="2011680" cy="31272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5">
              <a:extLst>
                <a:ext uri="{FF2B5EF4-FFF2-40B4-BE49-F238E27FC236}">
                  <a16:creationId xmlns:a16="http://schemas.microsoft.com/office/drawing/2014/main" id="{95818EEF-BBE4-A81D-D88B-5E9AD5D4F344}"/>
                </a:ext>
              </a:extLst>
            </p:cNvPr>
            <p:cNvSpPr/>
            <p:nvPr/>
          </p:nvSpPr>
          <p:spPr>
            <a:xfrm>
              <a:off x="1874520" y="2045311"/>
              <a:ext cx="2011680" cy="54864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6">
              <a:extLst>
                <a:ext uri="{FF2B5EF4-FFF2-40B4-BE49-F238E27FC236}">
                  <a16:creationId xmlns:a16="http://schemas.microsoft.com/office/drawing/2014/main" id="{CC9E49BC-90A6-6B7F-7C81-2B513AD76581}"/>
                </a:ext>
              </a:extLst>
            </p:cNvPr>
            <p:cNvSpPr/>
            <p:nvPr/>
          </p:nvSpPr>
          <p:spPr>
            <a:xfrm>
              <a:off x="1874520" y="2155039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kern="0" spc="100" dirty="0">
                  <a:solidFill>
                    <a:srgbClr val="64748B"/>
                  </a:solidFill>
                </a:rPr>
                <a:t>Level 1</a:t>
              </a:r>
              <a:endParaRPr lang="en-US" sz="950" dirty="0"/>
            </a:p>
          </p:txBody>
        </p:sp>
        <p:sp>
          <p:nvSpPr>
            <p:cNvPr id="55" name="Text 7">
              <a:extLst>
                <a:ext uri="{FF2B5EF4-FFF2-40B4-BE49-F238E27FC236}">
                  <a16:creationId xmlns:a16="http://schemas.microsoft.com/office/drawing/2014/main" id="{BCEEB448-21FC-A2AE-FA77-7CFC9DC6A98B}"/>
                </a:ext>
              </a:extLst>
            </p:cNvPr>
            <p:cNvSpPr/>
            <p:nvPr/>
          </p:nvSpPr>
          <p:spPr>
            <a:xfrm>
              <a:off x="1874520" y="2429359"/>
              <a:ext cx="2011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🎓</a:t>
              </a:r>
              <a:endParaRPr lang="en-US" sz="2600" dirty="0"/>
            </a:p>
          </p:txBody>
        </p:sp>
        <p:sp>
          <p:nvSpPr>
            <p:cNvPr id="56" name="Text 8">
              <a:extLst>
                <a:ext uri="{FF2B5EF4-FFF2-40B4-BE49-F238E27FC236}">
                  <a16:creationId xmlns:a16="http://schemas.microsoft.com/office/drawing/2014/main" id="{EE9D0EF0-32BE-F11E-4B1B-B9A0F057657E}"/>
                </a:ext>
              </a:extLst>
            </p:cNvPr>
            <p:cNvSpPr/>
            <p:nvPr/>
          </p:nvSpPr>
          <p:spPr>
            <a:xfrm>
              <a:off x="1874520" y="2932279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</a:rPr>
                <a:t>Intern</a:t>
              </a:r>
              <a:endParaRPr lang="en-US" sz="1400" dirty="0"/>
            </a:p>
          </p:txBody>
        </p:sp>
        <p:sp>
          <p:nvSpPr>
            <p:cNvPr id="57" name="Shape 9">
              <a:extLst>
                <a:ext uri="{FF2B5EF4-FFF2-40B4-BE49-F238E27FC236}">
                  <a16:creationId xmlns:a16="http://schemas.microsoft.com/office/drawing/2014/main" id="{C9E1F0CD-9320-982E-53CB-AC5119E6565F}"/>
                </a:ext>
              </a:extLst>
            </p:cNvPr>
            <p:cNvSpPr/>
            <p:nvPr/>
          </p:nvSpPr>
          <p:spPr>
            <a:xfrm>
              <a:off x="2103120" y="3252319"/>
              <a:ext cx="1554480" cy="256032"/>
            </a:xfrm>
            <a:prstGeom prst="rect">
              <a:avLst/>
            </a:prstGeom>
            <a:solidFill>
              <a:srgbClr val="64748B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10">
              <a:extLst>
                <a:ext uri="{FF2B5EF4-FFF2-40B4-BE49-F238E27FC236}">
                  <a16:creationId xmlns:a16="http://schemas.microsoft.com/office/drawing/2014/main" id="{0E88CE2A-C60E-5D70-A53A-85C78CB613DA}"/>
                </a:ext>
              </a:extLst>
            </p:cNvPr>
            <p:cNvSpPr/>
            <p:nvPr/>
          </p:nvSpPr>
          <p:spPr>
            <a:xfrm>
              <a:off x="2103120" y="3252319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64748B"/>
                  </a:solidFill>
                </a:rPr>
                <a:t>Generic AI</a:t>
              </a:r>
              <a:endParaRPr lang="en-US" sz="950" dirty="0"/>
            </a:p>
          </p:txBody>
        </p:sp>
        <p:sp>
          <p:nvSpPr>
            <p:cNvPr id="59" name="Text 11">
              <a:extLst>
                <a:ext uri="{FF2B5EF4-FFF2-40B4-BE49-F238E27FC236}">
                  <a16:creationId xmlns:a16="http://schemas.microsoft.com/office/drawing/2014/main" id="{3420A73E-EDBA-A54D-7174-AC3EAD97D68B}"/>
                </a:ext>
              </a:extLst>
            </p:cNvPr>
            <p:cNvSpPr/>
            <p:nvPr/>
          </p:nvSpPr>
          <p:spPr>
            <a:xfrm>
              <a:off x="1987296" y="3504764"/>
              <a:ext cx="1792224" cy="10275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Very smart, but no business context. No access to internal systems. Outputs can be vague, generic, or hallucinated.</a:t>
              </a:r>
              <a:endParaRPr lang="en-US" sz="1000" dirty="0"/>
            </a:p>
          </p:txBody>
        </p:sp>
      </p:grpSp>
      <p:sp>
        <p:nvSpPr>
          <p:cNvPr id="60" name="Shape 12">
            <a:extLst>
              <a:ext uri="{FF2B5EF4-FFF2-40B4-BE49-F238E27FC236}">
                <a16:creationId xmlns:a16="http://schemas.microsoft.com/office/drawing/2014/main" id="{65B14AB2-6DEC-272F-A7B4-E4F7377AE687}"/>
              </a:ext>
            </a:extLst>
          </p:cNvPr>
          <p:cNvSpPr/>
          <p:nvPr/>
        </p:nvSpPr>
        <p:spPr>
          <a:xfrm>
            <a:off x="3877056" y="2045311"/>
            <a:ext cx="2011680" cy="38220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935225B1-1322-30CD-BCEA-361C2D3B9772}"/>
              </a:ext>
            </a:extLst>
          </p:cNvPr>
          <p:cNvSpPr/>
          <p:nvPr/>
        </p:nvSpPr>
        <p:spPr>
          <a:xfrm>
            <a:off x="3877056" y="2045311"/>
            <a:ext cx="2011680" cy="67053"/>
          </a:xfrm>
          <a:prstGeom prst="rect">
            <a:avLst/>
          </a:prstGeom>
          <a:solidFill>
            <a:srgbClr val="0E9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1E77C900-CB1D-59DE-386B-E2BE7C6F82DB}"/>
              </a:ext>
            </a:extLst>
          </p:cNvPr>
          <p:cNvSpPr/>
          <p:nvPr/>
        </p:nvSpPr>
        <p:spPr>
          <a:xfrm>
            <a:off x="3877056" y="2179418"/>
            <a:ext cx="2011680" cy="279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E9F6E"/>
                </a:solidFill>
              </a:rPr>
              <a:t>Level 2</a:t>
            </a:r>
            <a:endParaRPr lang="en-US" sz="950" dirty="0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30CC8950-BB90-79F3-D6FF-687E222861B9}"/>
              </a:ext>
            </a:extLst>
          </p:cNvPr>
          <p:cNvSpPr/>
          <p:nvPr/>
        </p:nvSpPr>
        <p:spPr>
          <a:xfrm>
            <a:off x="3877056" y="2514684"/>
            <a:ext cx="2011680" cy="55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👨‍💻</a:t>
            </a:r>
            <a:endParaRPr lang="en-US" sz="2600" dirty="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854454F3-3C21-BD90-0EAA-2A99991193A8}"/>
              </a:ext>
            </a:extLst>
          </p:cNvPr>
          <p:cNvSpPr/>
          <p:nvPr/>
        </p:nvSpPr>
        <p:spPr>
          <a:xfrm>
            <a:off x="3877056" y="3129339"/>
            <a:ext cx="2011680" cy="357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Junior</a:t>
            </a:r>
            <a:endParaRPr lang="en-US" sz="140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C4947929-F29A-F8B4-D1BA-F0133178ADC6}"/>
              </a:ext>
            </a:extLst>
          </p:cNvPr>
          <p:cNvSpPr/>
          <p:nvPr/>
        </p:nvSpPr>
        <p:spPr>
          <a:xfrm>
            <a:off x="4105656" y="3520483"/>
            <a:ext cx="1554480" cy="312915"/>
          </a:xfrm>
          <a:prstGeom prst="rect">
            <a:avLst/>
          </a:prstGeom>
          <a:solidFill>
            <a:srgbClr val="0E9F6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125B328F-F7DF-EB2D-1B8D-25E110099CF6}"/>
              </a:ext>
            </a:extLst>
          </p:cNvPr>
          <p:cNvSpPr/>
          <p:nvPr/>
        </p:nvSpPr>
        <p:spPr>
          <a:xfrm>
            <a:off x="4105656" y="3520483"/>
            <a:ext cx="1554480" cy="31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F6E"/>
                </a:solidFill>
              </a:rPr>
              <a:t>Simple AI Agent</a:t>
            </a:r>
            <a:endParaRPr lang="en-US" sz="950" dirty="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6EF1CF56-0DA1-E7B2-0DCD-37AE0E63D041}"/>
              </a:ext>
            </a:extLst>
          </p:cNvPr>
          <p:cNvSpPr/>
          <p:nvPr/>
        </p:nvSpPr>
        <p:spPr>
          <a:xfrm>
            <a:off x="3995811" y="3891476"/>
            <a:ext cx="1792224" cy="1240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Provided with instructions, manuals &amp; CTE guidelines. Knows how we work and follows the rules. Grounded in our Data Platform design.</a:t>
            </a:r>
            <a:endParaRPr lang="en-US" sz="1000" dirty="0"/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504A4902-C7B6-3E1B-1FFF-ADEA44FFDA94}"/>
              </a:ext>
            </a:extLst>
          </p:cNvPr>
          <p:cNvSpPr/>
          <p:nvPr/>
        </p:nvSpPr>
        <p:spPr>
          <a:xfrm>
            <a:off x="4078224" y="5487379"/>
            <a:ext cx="1609344" cy="290564"/>
          </a:xfrm>
          <a:prstGeom prst="rect">
            <a:avLst/>
          </a:prstGeom>
          <a:solidFill>
            <a:srgbClr val="0E9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41DB72E3-9CBE-B5E9-5D38-02CFABD12A04}"/>
              </a:ext>
            </a:extLst>
          </p:cNvPr>
          <p:cNvSpPr/>
          <p:nvPr/>
        </p:nvSpPr>
        <p:spPr>
          <a:xfrm>
            <a:off x="4078224" y="5487379"/>
            <a:ext cx="1609344" cy="290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★  THIS DEMO</a:t>
            </a:r>
            <a:endParaRPr lang="en-US" sz="9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A832092-CA34-FB58-F803-D5987E1D6FEE}"/>
              </a:ext>
            </a:extLst>
          </p:cNvPr>
          <p:cNvGrpSpPr/>
          <p:nvPr/>
        </p:nvGrpSpPr>
        <p:grpSpPr>
          <a:xfrm>
            <a:off x="6441948" y="2032585"/>
            <a:ext cx="2011680" cy="3834762"/>
            <a:chOff x="6227064" y="2045311"/>
            <a:chExt cx="2011680" cy="3127248"/>
          </a:xfrm>
        </p:grpSpPr>
        <p:sp>
          <p:nvSpPr>
            <p:cNvPr id="70" name="Shape 22">
              <a:extLst>
                <a:ext uri="{FF2B5EF4-FFF2-40B4-BE49-F238E27FC236}">
                  <a16:creationId xmlns:a16="http://schemas.microsoft.com/office/drawing/2014/main" id="{E5E3901E-4B3B-4CE9-453F-DD282B7D0A47}"/>
                </a:ext>
              </a:extLst>
            </p:cNvPr>
            <p:cNvSpPr/>
            <p:nvPr/>
          </p:nvSpPr>
          <p:spPr>
            <a:xfrm>
              <a:off x="6227064" y="2045311"/>
              <a:ext cx="2011680" cy="31272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3">
              <a:extLst>
                <a:ext uri="{FF2B5EF4-FFF2-40B4-BE49-F238E27FC236}">
                  <a16:creationId xmlns:a16="http://schemas.microsoft.com/office/drawing/2014/main" id="{6819DC94-35AE-A282-112B-6917B2D6AA25}"/>
                </a:ext>
              </a:extLst>
            </p:cNvPr>
            <p:cNvSpPr/>
            <p:nvPr/>
          </p:nvSpPr>
          <p:spPr>
            <a:xfrm>
              <a:off x="6227064" y="2045311"/>
              <a:ext cx="2011680" cy="54864"/>
            </a:xfrm>
            <a:prstGeom prst="rect">
              <a:avLst/>
            </a:prstGeom>
            <a:solidFill>
              <a:srgbClr val="1A56D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 24">
              <a:extLst>
                <a:ext uri="{FF2B5EF4-FFF2-40B4-BE49-F238E27FC236}">
                  <a16:creationId xmlns:a16="http://schemas.microsoft.com/office/drawing/2014/main" id="{4EDD8482-E815-9DB8-B102-2DFFC805D3B8}"/>
                </a:ext>
              </a:extLst>
            </p:cNvPr>
            <p:cNvSpPr/>
            <p:nvPr/>
          </p:nvSpPr>
          <p:spPr>
            <a:xfrm>
              <a:off x="6227064" y="2155039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kern="0" spc="100" dirty="0">
                  <a:solidFill>
                    <a:srgbClr val="1A56DB"/>
                  </a:solidFill>
                </a:rPr>
                <a:t>Level 3</a:t>
              </a:r>
              <a:endParaRPr lang="en-US" sz="950" dirty="0"/>
            </a:p>
          </p:txBody>
        </p:sp>
        <p:sp>
          <p:nvSpPr>
            <p:cNvPr id="73" name="Text 25">
              <a:extLst>
                <a:ext uri="{FF2B5EF4-FFF2-40B4-BE49-F238E27FC236}">
                  <a16:creationId xmlns:a16="http://schemas.microsoft.com/office/drawing/2014/main" id="{D94E3244-43CC-FD1C-DD95-703F63FA54CC}"/>
                </a:ext>
              </a:extLst>
            </p:cNvPr>
            <p:cNvSpPr/>
            <p:nvPr/>
          </p:nvSpPr>
          <p:spPr>
            <a:xfrm>
              <a:off x="6227064" y="2429359"/>
              <a:ext cx="2011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🧑‍🔬</a:t>
              </a:r>
              <a:endParaRPr lang="en-US" sz="2600" dirty="0"/>
            </a:p>
          </p:txBody>
        </p:sp>
        <p:sp>
          <p:nvSpPr>
            <p:cNvPr id="74" name="Text 26">
              <a:extLst>
                <a:ext uri="{FF2B5EF4-FFF2-40B4-BE49-F238E27FC236}">
                  <a16:creationId xmlns:a16="http://schemas.microsoft.com/office/drawing/2014/main" id="{FFBF6D71-6CB8-79D8-EB01-1918AEB44E21}"/>
                </a:ext>
              </a:extLst>
            </p:cNvPr>
            <p:cNvSpPr/>
            <p:nvPr/>
          </p:nvSpPr>
          <p:spPr>
            <a:xfrm>
              <a:off x="6227064" y="2932279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</a:rPr>
                <a:t>Mid-level</a:t>
              </a:r>
              <a:endParaRPr lang="en-US" sz="1400" dirty="0"/>
            </a:p>
          </p:txBody>
        </p:sp>
        <p:sp>
          <p:nvSpPr>
            <p:cNvPr id="75" name="Shape 27">
              <a:extLst>
                <a:ext uri="{FF2B5EF4-FFF2-40B4-BE49-F238E27FC236}">
                  <a16:creationId xmlns:a16="http://schemas.microsoft.com/office/drawing/2014/main" id="{98CFBA6E-EFB9-3253-E5A5-C832D9951BFF}"/>
                </a:ext>
              </a:extLst>
            </p:cNvPr>
            <p:cNvSpPr/>
            <p:nvPr/>
          </p:nvSpPr>
          <p:spPr>
            <a:xfrm>
              <a:off x="6455664" y="3252319"/>
              <a:ext cx="1554480" cy="256032"/>
            </a:xfrm>
            <a:prstGeom prst="rect">
              <a:avLst/>
            </a:prstGeom>
            <a:solidFill>
              <a:srgbClr val="1A56DB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28">
              <a:extLst>
                <a:ext uri="{FF2B5EF4-FFF2-40B4-BE49-F238E27FC236}">
                  <a16:creationId xmlns:a16="http://schemas.microsoft.com/office/drawing/2014/main" id="{F51883CB-683C-F970-2B2D-57586A8172A5}"/>
                </a:ext>
              </a:extLst>
            </p:cNvPr>
            <p:cNvSpPr/>
            <p:nvPr/>
          </p:nvSpPr>
          <p:spPr>
            <a:xfrm>
              <a:off x="6455664" y="3252319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A56DB"/>
                  </a:solidFill>
                </a:rPr>
                <a:t>RAG</a:t>
              </a:r>
              <a:endParaRPr lang="en-US" sz="950" dirty="0"/>
            </a:p>
          </p:txBody>
        </p:sp>
        <p:sp>
          <p:nvSpPr>
            <p:cNvPr id="77" name="Text 29">
              <a:extLst>
                <a:ext uri="{FF2B5EF4-FFF2-40B4-BE49-F238E27FC236}">
                  <a16:creationId xmlns:a16="http://schemas.microsoft.com/office/drawing/2014/main" id="{F4D952E6-BAE8-F39C-7142-01A083F89EA2}"/>
                </a:ext>
              </a:extLst>
            </p:cNvPr>
            <p:cNvSpPr/>
            <p:nvPr/>
          </p:nvSpPr>
          <p:spPr>
            <a:xfrm>
              <a:off x="6336792" y="3618079"/>
              <a:ext cx="1792224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Retrieves relevant internal documents and data at query time. Produces grounded, accurate, context-aware answers from a live knowledge base.</a:t>
              </a:r>
              <a:endParaRPr lang="en-US" sz="100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4F98AAB-F953-986A-D08C-D9ABFC91EA39}"/>
              </a:ext>
            </a:extLst>
          </p:cNvPr>
          <p:cNvGrpSpPr/>
          <p:nvPr/>
        </p:nvGrpSpPr>
        <p:grpSpPr>
          <a:xfrm>
            <a:off x="9006840" y="2032585"/>
            <a:ext cx="2011680" cy="3834762"/>
            <a:chOff x="8403336" y="2045311"/>
            <a:chExt cx="2011680" cy="3127248"/>
          </a:xfrm>
        </p:grpSpPr>
        <p:sp>
          <p:nvSpPr>
            <p:cNvPr id="78" name="Shape 30">
              <a:extLst>
                <a:ext uri="{FF2B5EF4-FFF2-40B4-BE49-F238E27FC236}">
                  <a16:creationId xmlns:a16="http://schemas.microsoft.com/office/drawing/2014/main" id="{5BF6AC36-6345-6F7F-03D9-AA95E40895DE}"/>
                </a:ext>
              </a:extLst>
            </p:cNvPr>
            <p:cNvSpPr/>
            <p:nvPr/>
          </p:nvSpPr>
          <p:spPr>
            <a:xfrm>
              <a:off x="8403336" y="2045311"/>
              <a:ext cx="2011680" cy="31272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31">
              <a:extLst>
                <a:ext uri="{FF2B5EF4-FFF2-40B4-BE49-F238E27FC236}">
                  <a16:creationId xmlns:a16="http://schemas.microsoft.com/office/drawing/2014/main" id="{19364F76-BF2D-6724-4E35-257F6329A9CF}"/>
                </a:ext>
              </a:extLst>
            </p:cNvPr>
            <p:cNvSpPr/>
            <p:nvPr/>
          </p:nvSpPr>
          <p:spPr>
            <a:xfrm>
              <a:off x="8403336" y="2045311"/>
              <a:ext cx="2011680" cy="54864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 32">
              <a:extLst>
                <a:ext uri="{FF2B5EF4-FFF2-40B4-BE49-F238E27FC236}">
                  <a16:creationId xmlns:a16="http://schemas.microsoft.com/office/drawing/2014/main" id="{34CE5684-42EE-E217-FC6F-15040699B7DE}"/>
                </a:ext>
              </a:extLst>
            </p:cNvPr>
            <p:cNvSpPr/>
            <p:nvPr/>
          </p:nvSpPr>
          <p:spPr>
            <a:xfrm>
              <a:off x="8403336" y="2155039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kern="0" spc="100" dirty="0">
                  <a:solidFill>
                    <a:srgbClr val="7C3AED"/>
                  </a:solidFill>
                </a:rPr>
                <a:t>Level 4</a:t>
              </a:r>
              <a:endParaRPr lang="en-US" sz="950" dirty="0"/>
            </a:p>
          </p:txBody>
        </p:sp>
        <p:sp>
          <p:nvSpPr>
            <p:cNvPr id="81" name="Text 33">
              <a:extLst>
                <a:ext uri="{FF2B5EF4-FFF2-40B4-BE49-F238E27FC236}">
                  <a16:creationId xmlns:a16="http://schemas.microsoft.com/office/drawing/2014/main" id="{4F173E57-5198-3BA7-7A8B-403D61E54BD7}"/>
                </a:ext>
              </a:extLst>
            </p:cNvPr>
            <p:cNvSpPr/>
            <p:nvPr/>
          </p:nvSpPr>
          <p:spPr>
            <a:xfrm>
              <a:off x="8403336" y="2429359"/>
              <a:ext cx="2011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000000"/>
                  </a:solidFill>
                </a:rPr>
                <a:t>🧠</a:t>
              </a:r>
              <a:endParaRPr lang="en-US" sz="2600" dirty="0"/>
            </a:p>
          </p:txBody>
        </p:sp>
        <p:sp>
          <p:nvSpPr>
            <p:cNvPr id="82" name="Text 34">
              <a:extLst>
                <a:ext uri="{FF2B5EF4-FFF2-40B4-BE49-F238E27FC236}">
                  <a16:creationId xmlns:a16="http://schemas.microsoft.com/office/drawing/2014/main" id="{36F970C7-3196-61E0-7205-EB31DBC4B8B4}"/>
                </a:ext>
              </a:extLst>
            </p:cNvPr>
            <p:cNvSpPr/>
            <p:nvPr/>
          </p:nvSpPr>
          <p:spPr>
            <a:xfrm>
              <a:off x="8403336" y="2932279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</a:rPr>
                <a:t>Senior</a:t>
              </a:r>
              <a:endParaRPr lang="en-US" sz="1400" dirty="0"/>
            </a:p>
          </p:txBody>
        </p:sp>
        <p:sp>
          <p:nvSpPr>
            <p:cNvPr id="83" name="Shape 35">
              <a:extLst>
                <a:ext uri="{FF2B5EF4-FFF2-40B4-BE49-F238E27FC236}">
                  <a16:creationId xmlns:a16="http://schemas.microsoft.com/office/drawing/2014/main" id="{C5A66584-D4CB-E32E-4609-001C460C0340}"/>
                </a:ext>
              </a:extLst>
            </p:cNvPr>
            <p:cNvSpPr/>
            <p:nvPr/>
          </p:nvSpPr>
          <p:spPr>
            <a:xfrm>
              <a:off x="8631936" y="3252319"/>
              <a:ext cx="1554480" cy="256032"/>
            </a:xfrm>
            <a:prstGeom prst="rect">
              <a:avLst/>
            </a:prstGeom>
            <a:solidFill>
              <a:srgbClr val="7C3AED">
                <a:alpha val="1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36">
              <a:extLst>
                <a:ext uri="{FF2B5EF4-FFF2-40B4-BE49-F238E27FC236}">
                  <a16:creationId xmlns:a16="http://schemas.microsoft.com/office/drawing/2014/main" id="{0B115E5E-FD92-D8F6-9D74-0D437DAD9950}"/>
                </a:ext>
              </a:extLst>
            </p:cNvPr>
            <p:cNvSpPr/>
            <p:nvPr/>
          </p:nvSpPr>
          <p:spPr>
            <a:xfrm>
              <a:off x="8631936" y="3252319"/>
              <a:ext cx="1554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7C3AED"/>
                  </a:solidFill>
                </a:rPr>
                <a:t>MCP</a:t>
              </a:r>
              <a:endParaRPr lang="en-US" sz="950" dirty="0"/>
            </a:p>
          </p:txBody>
        </p:sp>
        <p:sp>
          <p:nvSpPr>
            <p:cNvPr id="85" name="Text 37">
              <a:extLst>
                <a:ext uri="{FF2B5EF4-FFF2-40B4-BE49-F238E27FC236}">
                  <a16:creationId xmlns:a16="http://schemas.microsoft.com/office/drawing/2014/main" id="{98F6532E-242A-3E9C-9807-C6A27E602F0F}"/>
                </a:ext>
              </a:extLst>
            </p:cNvPr>
            <p:cNvSpPr/>
            <p:nvPr/>
          </p:nvSpPr>
          <p:spPr>
            <a:xfrm>
              <a:off x="8513064" y="3618079"/>
              <a:ext cx="1792224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</a:rPr>
                <a:t>Connects to live systems autonomously. Analyzes, integrates across tools, and makes independent decisions without explicit instructions.</a:t>
              </a:r>
              <a:endParaRPr lang="en-US" sz="1000" dirty="0"/>
            </a:p>
          </p:txBody>
        </p:sp>
      </p:grpSp>
      <p:sp>
        <p:nvSpPr>
          <p:cNvPr id="86" name="Text 38">
            <a:extLst>
              <a:ext uri="{FF2B5EF4-FFF2-40B4-BE49-F238E27FC236}">
                <a16:creationId xmlns:a16="http://schemas.microsoft.com/office/drawing/2014/main" id="{C7C56D39-1D75-CDFD-CDE2-13944D35F86A}"/>
              </a:ext>
            </a:extLst>
          </p:cNvPr>
          <p:cNvSpPr/>
          <p:nvPr/>
        </p:nvSpPr>
        <p:spPr>
          <a:xfrm>
            <a:off x="3287268" y="3471948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</a:t>
            </a:r>
          </a:p>
        </p:txBody>
      </p:sp>
      <p:sp>
        <p:nvSpPr>
          <p:cNvPr id="93" name="Text 38">
            <a:extLst>
              <a:ext uri="{FF2B5EF4-FFF2-40B4-BE49-F238E27FC236}">
                <a16:creationId xmlns:a16="http://schemas.microsoft.com/office/drawing/2014/main" id="{18BD43A9-4CBF-AF7F-F609-4415857595C2}"/>
              </a:ext>
            </a:extLst>
          </p:cNvPr>
          <p:cNvSpPr/>
          <p:nvPr/>
        </p:nvSpPr>
        <p:spPr>
          <a:xfrm>
            <a:off x="5923026" y="3478714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</a:t>
            </a:r>
          </a:p>
        </p:txBody>
      </p:sp>
      <p:sp>
        <p:nvSpPr>
          <p:cNvPr id="94" name="Text 38">
            <a:extLst>
              <a:ext uri="{FF2B5EF4-FFF2-40B4-BE49-F238E27FC236}">
                <a16:creationId xmlns:a16="http://schemas.microsoft.com/office/drawing/2014/main" id="{DEEBADCC-2AF3-FC96-A995-20A23D1D720D}"/>
              </a:ext>
            </a:extLst>
          </p:cNvPr>
          <p:cNvSpPr/>
          <p:nvPr/>
        </p:nvSpPr>
        <p:spPr>
          <a:xfrm>
            <a:off x="8487918" y="3476382"/>
            <a:ext cx="484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</a:t>
            </a:r>
          </a:p>
        </p:txBody>
      </p:sp>
      <p:sp>
        <p:nvSpPr>
          <p:cNvPr id="95" name="Text 29">
            <a:extLst>
              <a:ext uri="{FF2B5EF4-FFF2-40B4-BE49-F238E27FC236}">
                <a16:creationId xmlns:a16="http://schemas.microsoft.com/office/drawing/2014/main" id="{1641F45F-13D2-0130-B4E2-8477BB04C9DD}"/>
              </a:ext>
            </a:extLst>
          </p:cNvPr>
          <p:cNvSpPr/>
          <p:nvPr/>
        </p:nvSpPr>
        <p:spPr>
          <a:xfrm>
            <a:off x="6517386" y="3774821"/>
            <a:ext cx="1881378" cy="598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Retrieval Augmented Generation</a:t>
            </a:r>
          </a:p>
        </p:txBody>
      </p:sp>
      <p:sp>
        <p:nvSpPr>
          <p:cNvPr id="96" name="Text 29">
            <a:extLst>
              <a:ext uri="{FF2B5EF4-FFF2-40B4-BE49-F238E27FC236}">
                <a16:creationId xmlns:a16="http://schemas.microsoft.com/office/drawing/2014/main" id="{A127F991-DC8E-81EF-29E3-D7547B2DB5E1}"/>
              </a:ext>
            </a:extLst>
          </p:cNvPr>
          <p:cNvSpPr/>
          <p:nvPr/>
        </p:nvSpPr>
        <p:spPr>
          <a:xfrm>
            <a:off x="9071991" y="3774821"/>
            <a:ext cx="1881378" cy="598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Context Protocol</a:t>
            </a:r>
          </a:p>
        </p:txBody>
      </p:sp>
      <p:sp>
        <p:nvSpPr>
          <p:cNvPr id="97" name="AutoShape 2" descr="ChatGPT Logo">
            <a:extLst>
              <a:ext uri="{FF2B5EF4-FFF2-40B4-BE49-F238E27FC236}">
                <a16:creationId xmlns:a16="http://schemas.microsoft.com/office/drawing/2014/main" id="{4FC09C8F-4597-0962-4E04-33424E877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" name="Picture 101" descr="A logo with a blue and black text&#10;&#10;AI-generated content may be incorrect.">
            <a:extLst>
              <a:ext uri="{FF2B5EF4-FFF2-40B4-BE49-F238E27FC236}">
                <a16:creationId xmlns:a16="http://schemas.microsoft.com/office/drawing/2014/main" id="{EC9C4248-32BF-8631-F8D2-4CF266165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07" y="4875369"/>
            <a:ext cx="773049" cy="434453"/>
          </a:xfrm>
          <a:prstGeom prst="rect">
            <a:avLst/>
          </a:prstGeom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E63830D-7D77-13C5-6ACE-9D4B8D8BA596}"/>
              </a:ext>
            </a:extLst>
          </p:cNvPr>
          <p:cNvGrpSpPr/>
          <p:nvPr/>
        </p:nvGrpSpPr>
        <p:grpSpPr>
          <a:xfrm>
            <a:off x="1506167" y="4896344"/>
            <a:ext cx="356235" cy="542974"/>
            <a:chOff x="1304676" y="4936011"/>
            <a:chExt cx="356235" cy="542974"/>
          </a:xfrm>
        </p:grpSpPr>
        <p:pic>
          <p:nvPicPr>
            <p:cNvPr id="100" name="Picture 9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850F8112-A62A-DA27-9D7B-FB1FA08B5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7310" y="4936011"/>
              <a:ext cx="309255" cy="313169"/>
            </a:xfrm>
            <a:prstGeom prst="rect">
              <a:avLst/>
            </a:prstGeom>
          </p:spPr>
        </p:pic>
        <p:sp>
          <p:nvSpPr>
            <p:cNvPr id="103" name="Text 29">
              <a:extLst>
                <a:ext uri="{FF2B5EF4-FFF2-40B4-BE49-F238E27FC236}">
                  <a16:creationId xmlns:a16="http://schemas.microsoft.com/office/drawing/2014/main" id="{4EDA08A0-4622-7D86-4453-61E005DC8C31}"/>
                </a:ext>
              </a:extLst>
            </p:cNvPr>
            <p:cNvSpPr/>
            <p:nvPr/>
          </p:nvSpPr>
          <p:spPr>
            <a:xfrm>
              <a:off x="1304676" y="5298068"/>
              <a:ext cx="356235" cy="1809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GPT</a:t>
              </a:r>
            </a:p>
          </p:txBody>
        </p:sp>
      </p:grpSp>
      <p:pic>
        <p:nvPicPr>
          <p:cNvPr id="106" name="Picture 105" descr="A logo with black text&#10;&#10;AI-generated content may be incorrect.">
            <a:extLst>
              <a:ext uri="{FF2B5EF4-FFF2-40B4-BE49-F238E27FC236}">
                <a16:creationId xmlns:a16="http://schemas.microsoft.com/office/drawing/2014/main" id="{817E0E64-CE1F-9A55-D0F3-6DF1CC56E4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5151" r="-1809" b="35280"/>
          <a:stretch>
            <a:fillRect/>
          </a:stretch>
        </p:blipFill>
        <p:spPr>
          <a:xfrm>
            <a:off x="1644782" y="5457815"/>
            <a:ext cx="1098418" cy="319015"/>
          </a:xfrm>
          <a:prstGeom prst="rect">
            <a:avLst/>
          </a:prstGeom>
        </p:spPr>
      </p:pic>
      <p:pic>
        <p:nvPicPr>
          <p:cNvPr id="108" name="Picture 107" descr="A logo for a company&#10;&#10;AI-generated content may be incorrect.">
            <a:extLst>
              <a:ext uri="{FF2B5EF4-FFF2-40B4-BE49-F238E27FC236}">
                <a16:creationId xmlns:a16="http://schemas.microsoft.com/office/drawing/2014/main" id="{64CB6729-6A3C-DB08-FFC8-124B481813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5" r="-43" b="22466"/>
          <a:stretch>
            <a:fillRect/>
          </a:stretch>
        </p:blipFill>
        <p:spPr>
          <a:xfrm>
            <a:off x="4315388" y="4884608"/>
            <a:ext cx="1153070" cy="573207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9F1D0451-0243-D898-7D18-538389B9C99E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A56DB"/>
                </a:solidFill>
              </a:rPr>
              <a:t>THE APPROACHES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33642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20285-38AF-B003-58A3-CF4E29C8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366A-3720-4672-9DE6-A579EE4DDF57}" type="datetime3">
              <a:rPr lang="en-US" smtClean="0"/>
              <a:t>24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63A8-AB56-ED0B-87D7-66CBAB1D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C168E-72CB-2785-772A-F0DDCA25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5365170-307B-9D89-BE0A-874C38B9B1DC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A56DB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C988ED7-97AD-9770-AA2C-4C0C58C2BA7C}"/>
              </a:ext>
            </a:extLst>
          </p:cNvPr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</a:rPr>
              <a:t>Setup</a:t>
            </a:r>
            <a:endParaRPr lang="en-US" sz="2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20D071-BEFA-CBA0-4AED-F203450DD8C7}"/>
              </a:ext>
            </a:extLst>
          </p:cNvPr>
          <p:cNvGrpSpPr/>
          <p:nvPr/>
        </p:nvGrpSpPr>
        <p:grpSpPr>
          <a:xfrm>
            <a:off x="2743200" y="1271015"/>
            <a:ext cx="4178808" cy="521209"/>
            <a:chOff x="1205948" y="1188719"/>
            <a:chExt cx="4432852" cy="911544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58330C34-29DC-57D5-B72A-EEDD32888A78}"/>
                </a:ext>
              </a:extLst>
            </p:cNvPr>
            <p:cNvSpPr/>
            <p:nvPr/>
          </p:nvSpPr>
          <p:spPr>
            <a:xfrm>
              <a:off x="1205948" y="1188719"/>
              <a:ext cx="4432852" cy="9115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1AB3ADA9-C129-46E8-68A9-2C2CF8D5A1DD}"/>
                </a:ext>
              </a:extLst>
            </p:cNvPr>
            <p:cNvSpPr/>
            <p:nvPr/>
          </p:nvSpPr>
          <p:spPr>
            <a:xfrm>
              <a:off x="1317987" y="1312036"/>
              <a:ext cx="4238001" cy="23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System instruction</a:t>
              </a:r>
              <a:endParaRPr lang="en-US" sz="130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DE72B9B8-69F9-35E1-7F75-CC8D3E3FC76F}"/>
                </a:ext>
              </a:extLst>
            </p:cNvPr>
            <p:cNvSpPr/>
            <p:nvPr/>
          </p:nvSpPr>
          <p:spPr>
            <a:xfrm>
              <a:off x="1317987" y="1671068"/>
              <a:ext cx="4238001" cy="260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Behavior Guidelines</a:t>
              </a:r>
              <a:endParaRPr lang="en-US" sz="11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0C4052-61A9-ADB6-F06C-B3603A22AB0B}"/>
              </a:ext>
            </a:extLst>
          </p:cNvPr>
          <p:cNvGrpSpPr/>
          <p:nvPr/>
        </p:nvGrpSpPr>
        <p:grpSpPr>
          <a:xfrm>
            <a:off x="2743200" y="1965959"/>
            <a:ext cx="4178808" cy="521209"/>
            <a:chOff x="1205948" y="1188719"/>
            <a:chExt cx="4432852" cy="911544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095F3847-524D-5B80-7B6E-C137049EEF11}"/>
                </a:ext>
              </a:extLst>
            </p:cNvPr>
            <p:cNvSpPr/>
            <p:nvPr/>
          </p:nvSpPr>
          <p:spPr>
            <a:xfrm>
              <a:off x="1205948" y="1188719"/>
              <a:ext cx="4432852" cy="9115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0D35C58B-72B2-C452-72F3-39003FC75D58}"/>
                </a:ext>
              </a:extLst>
            </p:cNvPr>
            <p:cNvSpPr/>
            <p:nvPr/>
          </p:nvSpPr>
          <p:spPr>
            <a:xfrm>
              <a:off x="1317987" y="1357418"/>
              <a:ext cx="4238001" cy="23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Custom instructions</a:t>
              </a:r>
              <a:endParaRPr lang="en-US" sz="1300" dirty="0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8228C1DF-1C7C-A850-9BF9-97251E678171}"/>
                </a:ext>
              </a:extLst>
            </p:cNvPr>
            <p:cNvSpPr/>
            <p:nvPr/>
          </p:nvSpPr>
          <p:spPr>
            <a:xfrm>
              <a:off x="1317987" y="1671068"/>
              <a:ext cx="4238001" cy="260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Project-specific rules (.instructions.md)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35BA76-B23F-759B-2119-7F32B8EF42EC}"/>
              </a:ext>
            </a:extLst>
          </p:cNvPr>
          <p:cNvGrpSpPr/>
          <p:nvPr/>
        </p:nvGrpSpPr>
        <p:grpSpPr>
          <a:xfrm>
            <a:off x="2756976" y="2656855"/>
            <a:ext cx="4178808" cy="521209"/>
            <a:chOff x="1205948" y="1188719"/>
            <a:chExt cx="4432852" cy="911544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D091302E-F31F-FC3D-A8F8-2249CC8DD99E}"/>
                </a:ext>
              </a:extLst>
            </p:cNvPr>
            <p:cNvSpPr/>
            <p:nvPr/>
          </p:nvSpPr>
          <p:spPr>
            <a:xfrm>
              <a:off x="1205948" y="1188719"/>
              <a:ext cx="4432852" cy="9115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8F043225-51AF-5967-3C20-F67E991727A7}"/>
                </a:ext>
              </a:extLst>
            </p:cNvPr>
            <p:cNvSpPr/>
            <p:nvPr/>
          </p:nvSpPr>
          <p:spPr>
            <a:xfrm>
              <a:off x="1317987" y="1315726"/>
              <a:ext cx="4238001" cy="23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Conversation history</a:t>
              </a:r>
              <a:endParaRPr lang="en-US" sz="1300" dirty="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6034399D-6585-5B10-C5A9-C9F05DD58AD7}"/>
                </a:ext>
              </a:extLst>
            </p:cNvPr>
            <p:cNvSpPr/>
            <p:nvPr/>
          </p:nvSpPr>
          <p:spPr>
            <a:xfrm>
              <a:off x="1317987" y="1681827"/>
              <a:ext cx="4238001" cy="260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Messages in current session</a:t>
              </a:r>
              <a:endParaRPr lang="en-US" sz="11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9D5FD71-33C7-A802-ECCF-3A9F8875AF73}"/>
              </a:ext>
            </a:extLst>
          </p:cNvPr>
          <p:cNvGrpSpPr/>
          <p:nvPr/>
        </p:nvGrpSpPr>
        <p:grpSpPr>
          <a:xfrm>
            <a:off x="2756976" y="3347751"/>
            <a:ext cx="4178808" cy="521209"/>
            <a:chOff x="1205948" y="1188719"/>
            <a:chExt cx="4432852" cy="911544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164B5091-9060-B397-48B5-C95CF1850C24}"/>
                </a:ext>
              </a:extLst>
            </p:cNvPr>
            <p:cNvSpPr/>
            <p:nvPr/>
          </p:nvSpPr>
          <p:spPr>
            <a:xfrm>
              <a:off x="1205948" y="1188719"/>
              <a:ext cx="4432852" cy="9115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EE53F9BD-84F3-4E2A-5721-2D027A497FE2}"/>
                </a:ext>
              </a:extLst>
            </p:cNvPr>
            <p:cNvSpPr/>
            <p:nvPr/>
          </p:nvSpPr>
          <p:spPr>
            <a:xfrm>
              <a:off x="1317987" y="1315726"/>
              <a:ext cx="4238001" cy="23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Implicit context</a:t>
              </a:r>
              <a:endParaRPr lang="en-US" sz="1300" dirty="0"/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41991EC3-59DD-7BFA-8F5F-50200B6B49F9}"/>
                </a:ext>
              </a:extLst>
            </p:cNvPr>
            <p:cNvSpPr/>
            <p:nvPr/>
          </p:nvSpPr>
          <p:spPr>
            <a:xfrm>
              <a:off x="1317987" y="1681827"/>
              <a:ext cx="4238001" cy="260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Open file, selection, errors, git state</a:t>
              </a:r>
              <a:endParaRPr lang="en-US" sz="11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11FC9B-68D9-4099-C4DA-A9A44FD61C8C}"/>
              </a:ext>
            </a:extLst>
          </p:cNvPr>
          <p:cNvGrpSpPr/>
          <p:nvPr/>
        </p:nvGrpSpPr>
        <p:grpSpPr>
          <a:xfrm>
            <a:off x="2743200" y="4039024"/>
            <a:ext cx="4178808" cy="521209"/>
            <a:chOff x="1205948" y="1188719"/>
            <a:chExt cx="4432852" cy="911544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30373573-F515-D378-FD7D-866FB4E91D77}"/>
                </a:ext>
              </a:extLst>
            </p:cNvPr>
            <p:cNvSpPr/>
            <p:nvPr/>
          </p:nvSpPr>
          <p:spPr>
            <a:xfrm>
              <a:off x="1205948" y="1188719"/>
              <a:ext cx="4432852" cy="9115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4112E0FF-D9CA-81F1-787A-29B25602E39A}"/>
                </a:ext>
              </a:extLst>
            </p:cNvPr>
            <p:cNvSpPr/>
            <p:nvPr/>
          </p:nvSpPr>
          <p:spPr>
            <a:xfrm>
              <a:off x="1317987" y="1315726"/>
              <a:ext cx="4238001" cy="23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Explicit references</a:t>
              </a:r>
              <a:endParaRPr lang="en-US" sz="1300" dirty="0"/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40A81E55-95E2-D4D1-C0FA-7782A8389ABE}"/>
                </a:ext>
              </a:extLst>
            </p:cNvPr>
            <p:cNvSpPr/>
            <p:nvPr/>
          </p:nvSpPr>
          <p:spPr>
            <a:xfrm>
              <a:off x="1317987" y="1681827"/>
              <a:ext cx="4238001" cy="260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#file, #codebase, #web mentions</a:t>
              </a:r>
              <a:endParaRPr lang="en-US" sz="11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F8BBFD-EA40-F649-CC1E-7B153E36BBE1}"/>
              </a:ext>
            </a:extLst>
          </p:cNvPr>
          <p:cNvGrpSpPr/>
          <p:nvPr/>
        </p:nvGrpSpPr>
        <p:grpSpPr>
          <a:xfrm>
            <a:off x="2743200" y="4730619"/>
            <a:ext cx="4178808" cy="521209"/>
            <a:chOff x="1205948" y="1188719"/>
            <a:chExt cx="4432852" cy="911544"/>
          </a:xfrm>
        </p:grpSpPr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63107C99-AEB3-FA8F-5144-B4F77F586F68}"/>
                </a:ext>
              </a:extLst>
            </p:cNvPr>
            <p:cNvSpPr/>
            <p:nvPr/>
          </p:nvSpPr>
          <p:spPr>
            <a:xfrm>
              <a:off x="1205948" y="1188719"/>
              <a:ext cx="4432852" cy="9115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9B669ADE-48F7-10B6-BE23-4EEDB58264C1}"/>
                </a:ext>
              </a:extLst>
            </p:cNvPr>
            <p:cNvSpPr/>
            <p:nvPr/>
          </p:nvSpPr>
          <p:spPr>
            <a:xfrm>
              <a:off x="1317987" y="1315726"/>
              <a:ext cx="4238001" cy="23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34155"/>
                  </a:solidFill>
                </a:rPr>
                <a:t>Tool outputs</a:t>
              </a:r>
              <a:endParaRPr lang="en-US" sz="1300" dirty="0"/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1F911154-A692-96CE-148F-E9F520CBDFFF}"/>
                </a:ext>
              </a:extLst>
            </p:cNvPr>
            <p:cNvSpPr/>
            <p:nvPr/>
          </p:nvSpPr>
          <p:spPr>
            <a:xfrm>
              <a:off x="1317987" y="1681827"/>
              <a:ext cx="4238001" cy="260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Terminal, file reads, search results</a:t>
              </a:r>
              <a:endParaRPr lang="en-US" sz="1100" dirty="0"/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3FE24A2-B31A-0397-0587-F883DF494D0B}"/>
              </a:ext>
            </a:extLst>
          </p:cNvPr>
          <p:cNvSpPr/>
          <p:nvPr/>
        </p:nvSpPr>
        <p:spPr>
          <a:xfrm>
            <a:off x="2290692" y="771591"/>
            <a:ext cx="5138928" cy="500176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E2D167-3983-1D15-C3B8-18F2949422F7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7429620" y="3268419"/>
            <a:ext cx="1302900" cy="405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E7E3690-58EB-CA43-AB3B-A97C08E872C7}"/>
              </a:ext>
            </a:extLst>
          </p:cNvPr>
          <p:cNvSpPr txBox="1"/>
          <p:nvPr/>
        </p:nvSpPr>
        <p:spPr>
          <a:xfrm>
            <a:off x="7760208" y="2978750"/>
            <a:ext cx="78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Prompt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7A6D7A-5706-1A4E-F1D5-24D474EFF9B3}"/>
              </a:ext>
            </a:extLst>
          </p:cNvPr>
          <p:cNvSpPr txBox="1"/>
          <p:nvPr/>
        </p:nvSpPr>
        <p:spPr>
          <a:xfrm>
            <a:off x="3879903" y="796269"/>
            <a:ext cx="1960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Context window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DF24557-F767-04B7-2E7B-E925799AB7D1}"/>
              </a:ext>
            </a:extLst>
          </p:cNvPr>
          <p:cNvSpPr/>
          <p:nvPr/>
        </p:nvSpPr>
        <p:spPr>
          <a:xfrm>
            <a:off x="8851392" y="3013327"/>
            <a:ext cx="2048256" cy="4156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Language model</a:t>
            </a:r>
          </a:p>
        </p:txBody>
      </p:sp>
    </p:spTree>
    <p:extLst>
      <p:ext uri="{BB962C8B-B14F-4D97-AF65-F5344CB8AC3E}">
        <p14:creationId xmlns:p14="http://schemas.microsoft.com/office/powerpoint/2010/main" val="20041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81C1-F375-1F8B-635B-5E122184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864CB-1BED-BE53-CE07-4FCCBFAB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366A-3720-4672-9DE6-A579EE4DDF57}" type="datetime3">
              <a:rPr lang="en-US" smtClean="0"/>
              <a:t>24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032B0-3FB3-F3B2-AFDF-2BB951FB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F87E5-089B-4621-94B5-5A4A1544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6DA09AF-6E68-30A2-773F-412132396724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A56DB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847AF0D-8643-2176-60CB-BA01189271C7}"/>
              </a:ext>
            </a:extLst>
          </p:cNvPr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</a:rPr>
              <a:t>AI Across SDLC</a:t>
            </a:r>
            <a:endParaRPr lang="en-US" sz="28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2EFDD72-F8D2-5EA6-3859-D7C14A6FC5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7914421"/>
              </p:ext>
            </p:extLst>
          </p:nvPr>
        </p:nvGraphicFramePr>
        <p:xfrm>
          <a:off x="2361184" y="919636"/>
          <a:ext cx="7322312" cy="4858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811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EA305-6587-AB7B-3CF5-73C2CA6C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9A9E8-F36E-327C-01FA-93B2BA5A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366A-3720-4672-9DE6-A579EE4DDF57}" type="datetime3">
              <a:rPr lang="en-US" smtClean="0"/>
              <a:t>24 March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4453C-48DB-817C-CC45-3C8E10C4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5BB14-6807-DED6-6F5E-73E58119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DE063-A82B-438C-8193-17C2E9260A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83C6A8D-7E6B-3B14-22AF-3666A71059F9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A56DB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8C64AA0-5B56-453D-27B7-156BC6293B62}"/>
              </a:ext>
            </a:extLst>
          </p:cNvPr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Human-in-the-loop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98868E-5AB9-3EA0-B4FE-E4A38B74B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66" t="-9024" r="-1466" b="9024"/>
          <a:stretch>
            <a:fillRect/>
          </a:stretch>
        </p:blipFill>
        <p:spPr>
          <a:xfrm>
            <a:off x="4122575" y="-632741"/>
            <a:ext cx="5198706" cy="70335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55B3775-D1E4-291F-1A18-53BC4515C009}"/>
              </a:ext>
            </a:extLst>
          </p:cNvPr>
          <p:cNvSpPr/>
          <p:nvPr/>
        </p:nvSpPr>
        <p:spPr>
          <a:xfrm>
            <a:off x="11313981" y="87809"/>
            <a:ext cx="868688" cy="8182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F0632B-37C3-6038-646F-10759149B9B9}"/>
              </a:ext>
            </a:extLst>
          </p:cNvPr>
          <p:cNvSpPr txBox="1"/>
          <p:nvPr/>
        </p:nvSpPr>
        <p:spPr>
          <a:xfrm>
            <a:off x="411480" y="1175657"/>
            <a:ext cx="2910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Human check points at every critical phases</a:t>
            </a:r>
          </a:p>
        </p:txBody>
      </p:sp>
    </p:spTree>
    <p:extLst>
      <p:ext uri="{BB962C8B-B14F-4D97-AF65-F5344CB8AC3E}">
        <p14:creationId xmlns:p14="http://schemas.microsoft.com/office/powerpoint/2010/main" val="212112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E9F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48640" y="219456"/>
            <a:ext cx="10972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kern="0" spc="400" dirty="0">
                <a:solidFill>
                  <a:srgbClr val="1A56DB"/>
                </a:solidFill>
              </a:rPr>
              <a:t>AGENT DESIGN</a:t>
            </a:r>
            <a:endParaRPr lang="en-US" sz="1133" dirty="0"/>
          </a:p>
        </p:txBody>
      </p:sp>
      <p:sp>
        <p:nvSpPr>
          <p:cNvPr id="4" name="Text 2"/>
          <p:cNvSpPr/>
          <p:nvPr/>
        </p:nvSpPr>
        <p:spPr>
          <a:xfrm>
            <a:off x="548640" y="609600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F2044"/>
                </a:solidFill>
              </a:rPr>
              <a:t>A New Way of Working with AI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548640" y="1625389"/>
            <a:ext cx="5242560" cy="4657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548640" y="1625389"/>
            <a:ext cx="5242560" cy="512064"/>
          </a:xfrm>
          <a:prstGeom prst="rect">
            <a:avLst/>
          </a:prstGeom>
          <a:solidFill>
            <a:srgbClr val="0E9F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48640" y="1625389"/>
            <a:ext cx="524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The Shifting Role of QC Engineers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136" y="2247181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B91C1C"/>
                </a:solidFill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7456" y="2247181"/>
            <a:ext cx="22920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0E9F6E"/>
                </a:solidFill>
              </a:rPr>
              <a:t>AFTER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87040" y="2247181"/>
            <a:ext cx="24384" cy="38770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07136" y="2600749"/>
            <a:ext cx="217017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</a:rPr>
              <a:t>✗  Writing test scripts &amp; CTEs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600749"/>
            <a:ext cx="241401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9F6E"/>
                </a:solidFill>
              </a:rPr>
              <a:t>✓  Editing AI-generated tests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7136" y="3429805"/>
            <a:ext cx="4852416" cy="1219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07136" y="3551725"/>
            <a:ext cx="217017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</a:rPr>
              <a:t>✗  Repetitive checklist testing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551725"/>
            <a:ext cx="241401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9F6E"/>
                </a:solidFill>
              </a:rPr>
              <a:t>✓  Focus on Exploratory Testing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7136" y="4380781"/>
            <a:ext cx="4852416" cy="1219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707136" y="4502701"/>
            <a:ext cx="217017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</a:rPr>
              <a:t>✗  Deep SQL required per task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4502701"/>
            <a:ext cx="241401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9F6E"/>
                </a:solidFill>
              </a:rPr>
              <a:t>✓  Domain judgment is the core skill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7136" y="5331757"/>
            <a:ext cx="4852416" cy="1219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07136" y="5453677"/>
            <a:ext cx="217017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</a:rPr>
              <a:t>✗  Bottlenecked by SQL complexity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5453677"/>
            <a:ext cx="241401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9F6E"/>
                </a:solidFill>
              </a:rPr>
              <a:t>✓  Freed for higher-value 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7136" y="6008413"/>
            <a:ext cx="4998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64748B"/>
                </a:solidFill>
              </a:rPr>
              <a:t>"AI handles the checklist. Humans handle the thinking."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035040" y="1625389"/>
            <a:ext cx="5608320" cy="4657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6035040" y="1625389"/>
            <a:ext cx="5608320" cy="512064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035040" y="1625389"/>
            <a:ext cx="560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Agent Ecosystem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3536" y="2234989"/>
            <a:ext cx="5279136" cy="512064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242304" y="2271565"/>
            <a:ext cx="4876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0000"/>
                </a:solidFill>
              </a:rPr>
              <a:t>🗄️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6766560" y="2271565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56DB"/>
                </a:solidFill>
              </a:rPr>
              <a:t>Data Testing Agent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9851136" y="2271565"/>
            <a:ext cx="1524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E9F6E"/>
                </a:solidFill>
              </a:rPr>
              <a:t>← This Demo</a:t>
            </a:r>
            <a:endParaRPr lang="en-US" sz="1267" dirty="0"/>
          </a:p>
        </p:txBody>
      </p:sp>
      <p:sp>
        <p:nvSpPr>
          <p:cNvPr id="30" name="Text 28"/>
          <p:cNvSpPr/>
          <p:nvPr/>
        </p:nvSpPr>
        <p:spPr>
          <a:xfrm>
            <a:off x="6242304" y="2844589"/>
            <a:ext cx="4876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0000"/>
                </a:solidFill>
              </a:rPr>
              <a:t>🔌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6766560" y="2844589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4155"/>
                </a:solidFill>
              </a:rPr>
              <a:t>API Testing Agent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6242304" y="3417613"/>
            <a:ext cx="4876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0000"/>
                </a:solidFill>
              </a:rPr>
              <a:t>⚡</a:t>
            </a:r>
            <a:endParaRPr lang="en-US" sz="1867" dirty="0"/>
          </a:p>
        </p:txBody>
      </p:sp>
      <p:sp>
        <p:nvSpPr>
          <p:cNvPr id="33" name="Text 31"/>
          <p:cNvSpPr/>
          <p:nvPr/>
        </p:nvSpPr>
        <p:spPr>
          <a:xfrm>
            <a:off x="6766560" y="3417613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4155"/>
                </a:solidFill>
              </a:rPr>
              <a:t>Performance Testing Agent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6242304" y="3990637"/>
            <a:ext cx="4876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0000"/>
                </a:solidFill>
              </a:rPr>
              <a:t>▶️</a:t>
            </a:r>
            <a:endParaRPr lang="en-US" sz="1867" dirty="0"/>
          </a:p>
        </p:txBody>
      </p:sp>
      <p:sp>
        <p:nvSpPr>
          <p:cNvPr id="35" name="Text 33"/>
          <p:cNvSpPr/>
          <p:nvPr/>
        </p:nvSpPr>
        <p:spPr>
          <a:xfrm>
            <a:off x="6766560" y="3990637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4155"/>
                </a:solidFill>
              </a:rPr>
              <a:t>Execution Agent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6242304" y="4563661"/>
            <a:ext cx="4876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0000"/>
                </a:solidFill>
              </a:rPr>
              <a:t>📊</a:t>
            </a:r>
            <a:endParaRPr lang="en-US" sz="1867" dirty="0"/>
          </a:p>
        </p:txBody>
      </p:sp>
      <p:sp>
        <p:nvSpPr>
          <p:cNvPr id="37" name="Text 35"/>
          <p:cNvSpPr/>
          <p:nvPr/>
        </p:nvSpPr>
        <p:spPr>
          <a:xfrm>
            <a:off x="6766560" y="4563661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4155"/>
                </a:solidFill>
              </a:rPr>
              <a:t>Analytic Agent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6242304" y="5136685"/>
            <a:ext cx="4876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0000"/>
                </a:solidFill>
              </a:rPr>
              <a:t>🗺️</a:t>
            </a:r>
            <a:endParaRPr lang="en-US" sz="1867" dirty="0"/>
          </a:p>
        </p:txBody>
      </p:sp>
      <p:sp>
        <p:nvSpPr>
          <p:cNvPr id="39" name="Text 37"/>
          <p:cNvSpPr/>
          <p:nvPr/>
        </p:nvSpPr>
        <p:spPr>
          <a:xfrm>
            <a:off x="6766560" y="5136685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4155"/>
                </a:solidFill>
              </a:rPr>
              <a:t>Coverage Agent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6242304" y="5709709"/>
            <a:ext cx="4876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0000"/>
                </a:solidFill>
              </a:rPr>
              <a:t>💥</a:t>
            </a:r>
            <a:endParaRPr lang="en-US" sz="1867" dirty="0"/>
          </a:p>
        </p:txBody>
      </p:sp>
      <p:sp>
        <p:nvSpPr>
          <p:cNvPr id="41" name="Text 39"/>
          <p:cNvSpPr/>
          <p:nvPr/>
        </p:nvSpPr>
        <p:spPr>
          <a:xfrm>
            <a:off x="6766560" y="5709709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4155"/>
                </a:solidFill>
              </a:rPr>
              <a:t>Impact Agent</a:t>
            </a:r>
            <a:endParaRPr 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4" y="-1"/>
            <a:ext cx="12190815" cy="6858667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3"/>
          <p:cNvSpPr txBox="1"/>
          <p:nvPr/>
        </p:nvSpPr>
        <p:spPr>
          <a:xfrm>
            <a:off x="3758152" y="2631640"/>
            <a:ext cx="467569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7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B8EC7F-51AD-A5E7-B5A6-7AFAEC7F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4863-4AAB-4F70-820F-179AFF243AF6}" type="datetime3">
              <a:rPr lang="en-US" smtClean="0"/>
              <a:t>24 March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3CADA-B20D-32AF-5514-42830EAA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F9A240B-7470-D9ED-7E41-AEDD0E6E972D}"/>
              </a:ext>
            </a:extLst>
          </p:cNvPr>
          <p:cNvSpPr/>
          <p:nvPr/>
        </p:nvSpPr>
        <p:spPr>
          <a:xfrm>
            <a:off x="411479" y="164591"/>
            <a:ext cx="9588507" cy="302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59E0B"/>
                </a:solidFill>
              </a:rPr>
              <a:t>LIVE DEMO PREVIEW</a:t>
            </a:r>
            <a:endParaRPr lang="en-US" sz="8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C704A1-726D-EEE8-6BA4-BCC6BB91748B}"/>
              </a:ext>
            </a:extLst>
          </p:cNvPr>
          <p:cNvSpPr/>
          <p:nvPr/>
        </p:nvSpPr>
        <p:spPr>
          <a:xfrm>
            <a:off x="1248477" y="768096"/>
            <a:ext cx="9695046" cy="853280"/>
          </a:xfrm>
          <a:prstGeom prst="rect">
            <a:avLst/>
          </a:prstGeom>
          <a:solidFill>
            <a:srgbClr val="1A2A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CFA845-9243-F2CA-88E3-CC56D325D05F}"/>
              </a:ext>
            </a:extLst>
          </p:cNvPr>
          <p:cNvSpPr/>
          <p:nvPr/>
        </p:nvSpPr>
        <p:spPr>
          <a:xfrm>
            <a:off x="1431356" y="768096"/>
            <a:ext cx="9375429" cy="85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💬  Prompt:  “</a:t>
            </a:r>
            <a:r>
              <a:rPr lang="en-US" sz="1100" i="1" dirty="0" err="1">
                <a:solidFill>
                  <a:srgbClr val="F59E0B"/>
                </a:solidFill>
              </a:rPr>
              <a:t>Viết</a:t>
            </a:r>
            <a:r>
              <a:rPr lang="en-US" sz="1100" i="1" dirty="0">
                <a:solidFill>
                  <a:srgbClr val="F59E0B"/>
                </a:solidFill>
              </a:rPr>
              <a:t> CTE"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6CED96-832A-E190-E156-8F97928ECCF2}"/>
              </a:ext>
            </a:extLst>
          </p:cNvPr>
          <p:cNvSpPr/>
          <p:nvPr/>
        </p:nvSpPr>
        <p:spPr>
          <a:xfrm>
            <a:off x="1248477" y="1472184"/>
            <a:ext cx="9695046" cy="4526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0BE9F-4073-13C6-0D5C-5D7BA41BD4F6}"/>
              </a:ext>
            </a:extLst>
          </p:cNvPr>
          <p:cNvSpPr/>
          <p:nvPr/>
        </p:nvSpPr>
        <p:spPr>
          <a:xfrm>
            <a:off x="1431357" y="1536191"/>
            <a:ext cx="9268890" cy="3991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================================================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TEST CASE        : SCF Loan Accrued Interest – Landing → Mart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STREAM           : Batch T-1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PLATFORM         :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BigQuery</a:t>
            </a:r>
            <a:endParaRPr lang="en-US" sz="1050" dirty="0">
              <a:solidFill>
                <a:srgbClr val="6B8E9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LAYER TRANSITION :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Landing→Mart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(rebuild logic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từ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Landing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để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đối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soát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Mart)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SOURCE TABLE     : 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PAST    : `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ncb-dp-uat-ency.ncb_dp_dev_landing.LMM_SCHEDULES_PAST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ACCRUED : `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ncb-dp-uat-ency.ncb_dp_dev_landing.LMM_ACCOUNT_BALANCES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LD      : `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ncb-dp-uat-ency.ncb_dp_dev_landing.LD_LOANS_AND_DEPOSITS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SOURCE STRATEGY  : Flatten each source table independently first, then union.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Priority fallback: SCHEDULES → BALANCES → LOANS.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For each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take the first non-null record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in priority order using ROW_NUMBER() OVER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(PARTITION BY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source_priority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ASC).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TARGET TABLE     : `ncb-dp-uat-ency.ncb_dp_uat_analytics.scf_loan_accrued_interest_uat`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BUSINESS KEY     :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Gợi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ý: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date_from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date_to</a:t>
            </a:r>
            <a:endParaRPr lang="en-US" sz="1050" dirty="0">
              <a:solidFill>
                <a:srgbClr val="6B8E9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RULE REF         : Loan accrued interest mapping spec: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date_from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date_to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days,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principal_amount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rate,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interest_amount</a:t>
            </a:r>
            <a:endParaRPr lang="en-US" sz="1050" dirty="0">
              <a:solidFill>
                <a:srgbClr val="6B8E9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interest_amount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principal_amount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rate * days / 365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COB DATE WINDOW  : </a:t>
            </a:r>
            <a:r>
              <a:rPr lang="en-US" sz="1050" dirty="0" err="1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systm_dt</a:t>
            </a:r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DATE '2026-02-25'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OUTPUT     : MODE 3 - SOURCE_ONLY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MEMORY           : Discard all previous conversation context. Generate this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script exclusively from the values defined in this prompt.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Do not reuse table paths, column names, business keys,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   COB dates, or source strategies from any prior script.</a:t>
            </a:r>
          </a:p>
          <a:p>
            <a:r>
              <a:rPr lang="en-US" sz="1050" dirty="0">
                <a:solidFill>
                  <a:srgbClr val="6B8E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================================================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74633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59F1B64E-B39C-6807-7290-B6F13F2E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23">
            <a:extLst>
              <a:ext uri="{FF2B5EF4-FFF2-40B4-BE49-F238E27FC236}">
                <a16:creationId xmlns:a16="http://schemas.microsoft.com/office/drawing/2014/main" id="{50465344-FE1F-28C2-3E18-B7F5C99CF4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4" y="-1"/>
            <a:ext cx="12190815" cy="6858667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3">
            <a:extLst>
              <a:ext uri="{FF2B5EF4-FFF2-40B4-BE49-F238E27FC236}">
                <a16:creationId xmlns:a16="http://schemas.microsoft.com/office/drawing/2014/main" id="{8505FA1C-E435-CD87-8BD6-8C27E896BAFA}"/>
              </a:ext>
            </a:extLst>
          </p:cNvPr>
          <p:cNvSpPr txBox="1"/>
          <p:nvPr/>
        </p:nvSpPr>
        <p:spPr>
          <a:xfrm>
            <a:off x="3758152" y="2631640"/>
            <a:ext cx="467569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7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B4B22-3F2B-1F22-8BB8-A0FD9890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4863-4AAB-4F70-820F-179AFF243AF6}" type="datetime3">
              <a:rPr lang="en-US" smtClean="0"/>
              <a:t>24 March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FCF3CB-41DC-A039-1853-03805C6B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trangdq.os@ncb-bank.vn</a:t>
            </a:r>
          </a:p>
        </p:txBody>
      </p:sp>
    </p:spTree>
    <p:extLst>
      <p:ext uri="{BB962C8B-B14F-4D97-AF65-F5344CB8AC3E}">
        <p14:creationId xmlns:p14="http://schemas.microsoft.com/office/powerpoint/2010/main" val="163381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3962</TotalTime>
  <Words>1020</Words>
  <Application>Microsoft Office PowerPoint</Application>
  <PresentationFormat>Widescreen</PresentationFormat>
  <Paragraphs>180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Trang Dang Quynh (OUTSOURCE)</dc:creator>
  <cp:lastModifiedBy>Trang Dang Quynh (OUTSOURCE)</cp:lastModifiedBy>
  <cp:revision>28</cp:revision>
  <dcterms:created xsi:type="dcterms:W3CDTF">2026-02-24T09:15:16Z</dcterms:created>
  <dcterms:modified xsi:type="dcterms:W3CDTF">2026-03-24T02:56:48Z</dcterms:modified>
</cp:coreProperties>
</file>